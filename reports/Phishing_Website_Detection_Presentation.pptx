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71"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539F0B4-BE60-4F97-EF4A-FA3257D4F6FE}">
          <p14:sldIdLst>
            <p14:sldId id="256"/>
            <p14:sldId id="257"/>
          </p14:sldIdLst>
        </p14:section>
        <p14:section name="Dataset" id="{07C9612C-0655-E9C6-1EE0-313EBD62A4DD}">
          <p14:sldIdLst>
            <p14:sldId id="258"/>
            <p14:sldId id="259"/>
          </p14:sldIdLst>
        </p14:section>
        <p14:section name="Visualization" id="{FFFDBAA6-132D-133A-1D3F-9A5C764F8A6D}">
          <p14:sldIdLst>
            <p14:sldId id="260"/>
            <p14:sldId id="261"/>
          </p14:sldIdLst>
        </p14:section>
        <p14:section name="Model development" id="{669C49AA-686E-6979-BAAC-7A87BB7145D9}">
          <p14:sldIdLst>
            <p14:sldId id="262"/>
            <p14:sldId id="263"/>
          </p14:sldIdLst>
        </p14:section>
        <p14:section name="Results" id="{F1B6F70D-5F42-EB4B-6652-D6BC22BF60F8}">
          <p14:sldIdLst>
            <p14:sldId id="264"/>
            <p14:sldId id="265"/>
          </p14:sldIdLst>
        </p14:section>
        <p14:section name="Overfitting" id="{9D207408-FE9B-6412-0E35-E556160AE454}">
          <p14:sldIdLst>
            <p14:sldId id="266"/>
            <p14:sldId id="267"/>
          </p14:sldIdLst>
        </p14:section>
        <p14:section name="Application" id="{D9691F7D-A997-43BF-6072-63B0376174E5}">
          <p14:sldIdLst/>
        </p14:section>
        <p14:section name="Conclusion" id="{E71F51D1-C0C2-6E43-C754-C8FB6C20FC8E}">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akha Sharma" userId="b10f53eebec017bb" providerId="LiveId" clId="{E7C3C5AA-B012-48C0-BDEA-3A5372562229}"/>
    <pc:docChg chg="custSel delSld modSld modSection">
      <pc:chgData name="Vishakha Sharma" userId="b10f53eebec017bb" providerId="LiveId" clId="{E7C3C5AA-B012-48C0-BDEA-3A5372562229}" dt="2026-10-28T08:33:16.848" v="24" actId="20577"/>
      <pc:docMkLst>
        <pc:docMk/>
      </pc:docMkLst>
      <pc:sldChg chg="modSp mod">
        <pc:chgData name="Vishakha Sharma" userId="b10f53eebec017bb" providerId="LiveId" clId="{E7C3C5AA-B012-48C0-BDEA-3A5372562229}" dt="2026-10-28T08:33:16.848" v="24" actId="20577"/>
        <pc:sldMkLst>
          <pc:docMk/>
          <pc:sldMk cId="0" sldId="256"/>
        </pc:sldMkLst>
        <pc:spChg chg="mod">
          <ac:chgData name="Vishakha Sharma" userId="b10f53eebec017bb" providerId="LiveId" clId="{E7C3C5AA-B012-48C0-BDEA-3A5372562229}" dt="2026-10-28T08:33:16.848" v="24" actId="20577"/>
          <ac:spMkLst>
            <pc:docMk/>
            <pc:sldMk cId="0" sldId="256"/>
            <ac:spMk id="3" creationId="{00000000-0000-0000-0000-000000000000}"/>
          </ac:spMkLst>
        </pc:spChg>
      </pc:sldChg>
      <pc:sldChg chg="modSp mod">
        <pc:chgData name="Vishakha Sharma" userId="b10f53eebec017bb" providerId="LiveId" clId="{E7C3C5AA-B012-48C0-BDEA-3A5372562229}" dt="2026-10-28T07:39:57.459" v="5" actId="20577"/>
        <pc:sldMkLst>
          <pc:docMk/>
          <pc:sldMk cId="0" sldId="263"/>
        </pc:sldMkLst>
        <pc:spChg chg="mod">
          <ac:chgData name="Vishakha Sharma" userId="b10f53eebec017bb" providerId="LiveId" clId="{E7C3C5AA-B012-48C0-BDEA-3A5372562229}" dt="2026-10-28T07:39:57.459" v="5" actId="20577"/>
          <ac:spMkLst>
            <pc:docMk/>
            <pc:sldMk cId="0" sldId="263"/>
            <ac:spMk id="12" creationId="{00000000-0000-0000-0000-000000000000}"/>
          </ac:spMkLst>
        </pc:spChg>
      </pc:sldChg>
      <pc:sldChg chg="delSp modSp mod">
        <pc:chgData name="Vishakha Sharma" userId="b10f53eebec017bb" providerId="LiveId" clId="{E7C3C5AA-B012-48C0-BDEA-3A5372562229}" dt="2026-10-28T07:17:12.370" v="2" actId="478"/>
        <pc:sldMkLst>
          <pc:docMk/>
          <pc:sldMk cId="0" sldId="264"/>
        </pc:sldMkLst>
        <pc:spChg chg="del">
          <ac:chgData name="Vishakha Sharma" userId="b10f53eebec017bb" providerId="LiveId" clId="{E7C3C5AA-B012-48C0-BDEA-3A5372562229}" dt="2026-10-28T07:17:12.370" v="2" actId="478"/>
          <ac:spMkLst>
            <pc:docMk/>
            <pc:sldMk cId="0" sldId="264"/>
            <ac:spMk id="8" creationId="{00000000-0000-0000-0000-000000000000}"/>
          </ac:spMkLst>
        </pc:spChg>
        <pc:spChg chg="del mod">
          <ac:chgData name="Vishakha Sharma" userId="b10f53eebec017bb" providerId="LiveId" clId="{E7C3C5AA-B012-48C0-BDEA-3A5372562229}" dt="2026-10-28T07:17:09.715" v="1" actId="478"/>
          <ac:spMkLst>
            <pc:docMk/>
            <pc:sldMk cId="0" sldId="264"/>
            <ac:spMk id="9" creationId="{00000000-0000-0000-0000-000000000000}"/>
          </ac:spMkLst>
        </pc:spChg>
      </pc:sldChg>
      <pc:sldChg chg="del">
        <pc:chgData name="Vishakha Sharma" userId="b10f53eebec017bb" providerId="LiveId" clId="{E7C3C5AA-B012-48C0-BDEA-3A5372562229}" dt="2026-10-28T07:17:48.370" v="3" actId="47"/>
        <pc:sldMkLst>
          <pc:docMk/>
          <pc:sldMk cId="0" sldId="268"/>
        </pc:sldMkLst>
      </pc:sldChg>
      <pc:sldChg chg="del">
        <pc:chgData name="Vishakha Sharma" userId="b10f53eebec017bb" providerId="LiveId" clId="{E7C3C5AA-B012-48C0-BDEA-3A5372562229}" dt="2026-10-28T07:17:57.844" v="4" actId="47"/>
        <pc:sldMkLst>
          <pc:docMk/>
          <pc:sldMk cId="0" sldId="269"/>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F2A"/>
                </a:solidFill>
                <a:latin typeface="+mn-lt"/>
              </a:defRPr>
            </a:pPr>
            <a:r>
              <a:rPr lang="en-US" sz="1300" b="0" i="0" u="none" strike="noStrike">
                <a:solidFill>
                  <a:srgbClr val="1B1F2A"/>
                </a:solidFill>
                <a:latin typeface="+mn-lt"/>
              </a:rPr>
              <a:t>Test set (859 sites) — at the validation-chosen threshold</a:t>
            </a:r>
          </a:p>
        </c:rich>
      </c:tx>
      <c:overlay val="0"/>
    </c:title>
    <c:autoTitleDeleted val="0"/>
    <c:plotArea>
      <c:layout/>
      <c:barChart>
        <c:barDir val="bar"/>
        <c:grouping val="clustered"/>
        <c:varyColors val="0"/>
        <c:ser>
          <c:idx val="0"/>
          <c:order val="0"/>
          <c:tx>
            <c:strRef>
              <c:f>Sheet1!$B$1</c:f>
              <c:strCache>
                <c:ptCount val="1"/>
                <c:pt idx="0">
                  <c:v>F1</c:v>
                </c:pt>
              </c:strCache>
            </c:strRef>
          </c:tx>
          <c:spPr>
            <a:solidFill>
              <a:srgbClr val="D1495B"/>
            </a:solidFill>
            <a:effectLst/>
          </c:spPr>
          <c:invertIfNegative val="0"/>
          <c:dLbls>
            <c:numFmt formatCode="0.000" sourceLinked="0"/>
            <c:spPr>
              <a:noFill/>
              <a:ln>
                <a:noFill/>
              </a:ln>
              <a:effectLst/>
            </c:spPr>
            <c:txPr>
              <a:bodyPr/>
              <a:lstStyle/>
              <a:p>
                <a:pPr>
                  <a:defRPr sz="1100" b="0" i="0" u="none" strike="noStrike">
                    <a:solidFill>
                      <a:srgbClr val="FFFFFF"/>
                    </a:solidFill>
                    <a:latin typeface="+mn-lt"/>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Custom Logistic Regression</c:v>
                </c:pt>
                <c:pt idx="1">
                  <c:v>scikit-learn LR (reference)</c:v>
                </c:pt>
                <c:pt idx="2">
                  <c:v>Best single feature</c:v>
                </c:pt>
                <c:pt idx="3">
                  <c:v>Majority class</c:v>
                </c:pt>
              </c:strCache>
            </c:strRef>
          </c:cat>
          <c:val>
            <c:numRef>
              <c:f>Sheet1!$B$2:$B$5</c:f>
              <c:numCache>
                <c:formatCode>General</c:formatCode>
                <c:ptCount val="4"/>
                <c:pt idx="0">
                  <c:v>0.93700000000000006</c:v>
                </c:pt>
                <c:pt idx="1">
                  <c:v>0.93700000000000006</c:v>
                </c:pt>
                <c:pt idx="2">
                  <c:v>0.88700000000000001</c:v>
                </c:pt>
                <c:pt idx="3">
                  <c:v>0.68100000000000005</c:v>
                </c:pt>
              </c:numCache>
            </c:numRef>
          </c:val>
          <c:extLst>
            <c:ext xmlns:c16="http://schemas.microsoft.com/office/drawing/2014/chart" uri="{C3380CC4-5D6E-409C-BE32-E72D297353CC}">
              <c16:uniqueId val="{00000000-C89E-46F8-B335-51D57BAEE9F0}"/>
            </c:ext>
          </c:extLst>
        </c:ser>
        <c:ser>
          <c:idx val="1"/>
          <c:order val="1"/>
          <c:tx>
            <c:strRef>
              <c:f>Sheet1!$C$1</c:f>
              <c:strCache>
                <c:ptCount val="1"/>
                <c:pt idx="0">
                  <c:v>ROC-AUC</c:v>
                </c:pt>
              </c:strCache>
            </c:strRef>
          </c:tx>
          <c:spPr>
            <a:solidFill>
              <a:srgbClr val="0F2A44"/>
            </a:solidFill>
            <a:effectLst/>
          </c:spPr>
          <c:invertIfNegative val="0"/>
          <c:dLbls>
            <c:numFmt formatCode="0.000" sourceLinked="0"/>
            <c:spPr>
              <a:noFill/>
              <a:ln>
                <a:noFill/>
              </a:ln>
              <a:effectLst/>
            </c:spPr>
            <c:txPr>
              <a:bodyPr/>
              <a:lstStyle/>
              <a:p>
                <a:pPr>
                  <a:defRPr sz="1100" b="0" i="0" u="none" strike="noStrike">
                    <a:solidFill>
                      <a:srgbClr val="FFFFFF"/>
                    </a:solidFill>
                    <a:latin typeface="+mn-lt"/>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Custom Logistic Regression</c:v>
                </c:pt>
                <c:pt idx="1">
                  <c:v>scikit-learn LR (reference)</c:v>
                </c:pt>
                <c:pt idx="2">
                  <c:v>Best single feature</c:v>
                </c:pt>
                <c:pt idx="3">
                  <c:v>Majority class</c:v>
                </c:pt>
              </c:strCache>
            </c:strRef>
          </c:cat>
          <c:val>
            <c:numRef>
              <c:f>Sheet1!$C$2:$C$5</c:f>
              <c:numCache>
                <c:formatCode>General</c:formatCode>
                <c:ptCount val="4"/>
                <c:pt idx="0">
                  <c:v>0.98799999999999999</c:v>
                </c:pt>
                <c:pt idx="1">
                  <c:v>0.98799999999999999</c:v>
                </c:pt>
                <c:pt idx="2">
                  <c:v>0.89700000000000002</c:v>
                </c:pt>
                <c:pt idx="3">
                  <c:v>0.5</c:v>
                </c:pt>
              </c:numCache>
            </c:numRef>
          </c:val>
          <c:extLst>
            <c:ext xmlns:c16="http://schemas.microsoft.com/office/drawing/2014/chart" uri="{C3380CC4-5D6E-409C-BE32-E72D297353CC}">
              <c16:uniqueId val="{00000001-C89E-46F8-B335-51D57BAEE9F0}"/>
            </c:ext>
          </c:extLst>
        </c:ser>
        <c:dLbls>
          <c:dLblPos val="inEnd"/>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1F2A"/>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t"/>
        <c:majorGridlines>
          <c:spPr>
            <a:ln w="6350" cap="flat">
              <a:solidFill>
                <a:srgbClr val="DDE3EA"/>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C757D"/>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F2A"/>
                </a:solidFill>
                <a:latin typeface="+mn-lt"/>
              </a:defRPr>
            </a:pPr>
            <a:r>
              <a:rPr lang="en-US" sz="1300" b="0" i="0" u="none" strike="noStrike">
                <a:solidFill>
                  <a:srgbClr val="1B1F2A"/>
                </a:solidFill>
                <a:latin typeface="+mn-lt"/>
              </a:rPr>
              <a:t>Validation ROC-AUC vs number of features</a:t>
            </a:r>
          </a:p>
        </c:rich>
      </c:tx>
      <c:overlay val="0"/>
    </c:title>
    <c:autoTitleDeleted val="0"/>
    <c:plotArea>
      <c:layout/>
      <c:lineChart>
        <c:grouping val="standard"/>
        <c:varyColors val="0"/>
        <c:ser>
          <c:idx val="0"/>
          <c:order val="0"/>
          <c:tx>
            <c:strRef>
              <c:f>Sheet1!$B$1</c:f>
              <c:strCache>
                <c:ptCount val="1"/>
                <c:pt idx="0">
                  <c:v>Logistic Regression</c:v>
                </c:pt>
              </c:strCache>
            </c:strRef>
          </c:tx>
          <c:spPr>
            <a:ln w="31750" cap="flat">
              <a:solidFill>
                <a:srgbClr val="00798C"/>
              </a:solidFill>
              <a:prstDash val="solid"/>
              <a:round/>
            </a:ln>
            <a:effectLst/>
          </c:spPr>
          <c:marker>
            <c:symbol val="circle"/>
            <c:size val="7"/>
            <c:spPr>
              <a:solidFill>
                <a:srgbClr val="00798C"/>
              </a:solidFill>
              <a:ln w="9525" cap="flat">
                <a:solidFill>
                  <a:srgbClr val="00798C"/>
                </a:solidFill>
                <a:prstDash val="solid"/>
                <a:round/>
              </a:ln>
              <a:effectLst/>
            </c:spPr>
          </c:marker>
          <c:cat>
            <c:strRef>
              <c:f>Sheet1!$A$2:$A$8</c:f>
              <c:strCache>
                <c:ptCount val="7"/>
                <c:pt idx="0">
                  <c:v>3</c:v>
                </c:pt>
                <c:pt idx="1">
                  <c:v>5</c:v>
                </c:pt>
                <c:pt idx="2">
                  <c:v>8</c:v>
                </c:pt>
                <c:pt idx="3">
                  <c:v>10</c:v>
                </c:pt>
                <c:pt idx="4">
                  <c:v>15</c:v>
                </c:pt>
                <c:pt idx="5">
                  <c:v>20</c:v>
                </c:pt>
                <c:pt idx="6">
                  <c:v>30</c:v>
                </c:pt>
              </c:strCache>
            </c:strRef>
          </c:cat>
          <c:val>
            <c:numRef>
              <c:f>Sheet1!$B$2:$B$8</c:f>
              <c:numCache>
                <c:formatCode>General</c:formatCode>
                <c:ptCount val="7"/>
                <c:pt idx="0">
                  <c:v>0.96509999999999996</c:v>
                </c:pt>
                <c:pt idx="1">
                  <c:v>0.97899999999999998</c:v>
                </c:pt>
                <c:pt idx="2">
                  <c:v>0.98460000000000003</c:v>
                </c:pt>
                <c:pt idx="3">
                  <c:v>0.98460000000000003</c:v>
                </c:pt>
                <c:pt idx="4">
                  <c:v>0.98670000000000002</c:v>
                </c:pt>
                <c:pt idx="5">
                  <c:v>0.98699999999999999</c:v>
                </c:pt>
                <c:pt idx="6">
                  <c:v>0.98809999999999998</c:v>
                </c:pt>
              </c:numCache>
            </c:numRef>
          </c:val>
          <c:smooth val="0"/>
          <c:extLst>
            <c:ext xmlns:c16="http://schemas.microsoft.com/office/drawing/2014/chart" uri="{C3380CC4-5D6E-409C-BE32-E72D297353CC}">
              <c16:uniqueId val="{00000000-3F64-4B1C-B57E-2AF0DF1594D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6C757D"/>
                    </a:solidFill>
                    <a:latin typeface="+mn-lt"/>
                  </a:defRPr>
                </a:pPr>
                <a:r>
                  <a:rPr lang="en-US" sz="1200" b="0" i="0" u="none" strike="noStrike">
                    <a:solidFill>
                      <a:srgbClr val="6C757D"/>
                    </a:solidFill>
                    <a:latin typeface="+mn-lt"/>
                  </a:rPr>
                  <a:t>Features kept (top-k by mutual information)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1F2A"/>
                </a:solidFill>
                <a:latin typeface="+mn-lt"/>
              </a:defRPr>
            </a:pPr>
            <a:endParaRPr lang="en-US"/>
          </a:p>
        </c:txPr>
        <c:crossAx val="2094734552"/>
        <c:crosses val="autoZero"/>
        <c:auto val="1"/>
        <c:lblAlgn val="ctr"/>
        <c:lblOffset val="100"/>
        <c:noMultiLvlLbl val="1"/>
      </c:catAx>
      <c:valAx>
        <c:axId val="2094734552"/>
        <c:scaling>
          <c:orientation val="minMax"/>
          <c:max val="1"/>
          <c:min val="0.96"/>
        </c:scaling>
        <c:delete val="0"/>
        <c:axPos val="l"/>
        <c:majorGridlines>
          <c:spPr>
            <a:ln w="6350" cap="flat">
              <a:solidFill>
                <a:srgbClr val="DDE3EA"/>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757D"/>
                </a:solidFill>
                <a:latin typeface="+mn-lt"/>
              </a:defRPr>
            </a:pPr>
            <a:endParaRPr lang="en-US"/>
          </a:p>
        </c:txPr>
        <c:crossAx val="2094734554"/>
        <c:crosses val="autoZero"/>
        <c:crossBetween val="between"/>
        <c:majorUnit val="0.0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0045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One-line summary: we classify websites as phishing or legitimate using a logistic regression we implemented ourselves in NumPy, and we evaluate them honestly on data the models never saw.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and the three objectives. Stress that the model does not call scikit-learn's fit; scikit-learn is only used for splitting, metrics and separate reference models.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UCI Machine Learning Repository, Phishing Websites (id 327), Mohammad, Thabtah and McCluskey 2012, CC BY 4.0. Labels: original −1 = phishing becomes 1, +1 = legitimate becomes 0. No missing values.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funnel left to right. Negative finding worth mentioning: retraining on the raw data did not noticeably inflate scores here (RF validation accuracy 0.970 vs 0.966), but deduplication is still the correct choice because it removes the possibility of inflation.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Exploratory analysis, not final performance. Label statistics use the training split only; the test split was never looked at during exploration.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chart: each row is a feature, each dot a code, x = share of phishing sites with that code (training data). Non-monotone codes are the reason for one-hot encoding in Logistic Regression.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covers requirement 2(b), data preprocessing. Everything is fitted on the training partition; the validation partition chooses settings; the test partition is evaluated once at the 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Derivation: ∂ℓ/∂p = (p − y)/(p(1 − p)), ∂p/∂z = p(1 − p), ∂z/∂w = x, so ∂ℓ/∂w = (p − y)x. L is the smoothness constant ¼·λmax(XᵀX/n) + λ; gradient descent is guaranteed to descend for a step below 2/L. About 27,000 iterations were needed because the problem is badly conditioned.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F1 (balance of precision and recall for phishing) and ROC-AUC (ranking quality across all thresholds). The gain is from a paired bootstrap on the same test rows. Accuracy alone is not enough: a model that always says 'phishing' gets recall 1.0.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ROC and precision-recall curves on the test set. Logistic Regression: TP 425, FP 38, FN 19, TN 377. A higher ROC-AUC does not guarantee better precision at the chosen threshold.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 5(a). Train and validation loss track each other at the selected setting, so there is no overfitting. Too much regularisation and the raw coding both under-fit: training and validation loss are high together. The learning curve (validation ROC-AUC 0.980 at 399 rows to 0.988 at 4,004) shows the gap shrinking.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 5(b), mitigation strategies. The chart shows that 8–20 features nearly match all 30; 3 features already reach about 0.965. Feature reduction simplifies the model but did not improve accuracy.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came from unit tests, reference comparisons and cross-checks — evidence that the from-scratch code was verified, not just written. 71 automated tests run with pytest.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numbers, then the limitations: results are on a 2012 dataset of unique feature vectors and do not prove anything about today's websites.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920240"/>
            <a:ext cx="10515600" cy="146304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548640" y="3520440"/>
            <a:ext cx="10515600" cy="1097280"/>
          </a:xfrm>
          <a:prstGeom prst="rect">
            <a:avLst/>
          </a:prstGeom>
          <a:noFill/>
          <a:ln/>
        </p:spPr>
        <p:txBody>
          <a:bodyPr wrap="square" rtlCol="0"/>
          <a:lstStyle>
            <a:lvl1pPr marL="0" indent="0">
              <a:buNone/>
              <a:defRPr lang="en-US" sz="2000" dirty="0">
                <a:solidFill>
                  <a:srgbClr val="CADCEB"/>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868680"/>
          </a:xfrm>
          <a:prstGeom prst="rect">
            <a:avLst/>
          </a:prstGeom>
          <a:noFill/>
          <a:ln/>
        </p:spPr>
        <p:txBody>
          <a:bodyPr wrap="square" rtlCol="0"/>
          <a:lstStyle>
            <a:lvl1pPr marL="0" indent="0">
              <a:buNone/>
              <a:defRPr lang="en-US" sz="3600" b="1" dirty="0">
                <a:solidFill>
                  <a:schemeClr val="bg1"/>
                </a:solidFill>
                <a:latin typeface="Cambria" pitchFamily="34" charset="0"/>
                <a:ea typeface="Cambria" pitchFamily="34" charset="-122"/>
                <a:cs typeface="Cambria" pitchFamily="34" charset="-120"/>
              </a:defRPr>
            </a:lvl1pPr>
          </a:lstStyle>
          <a:p>
            <a:pPr marL="0" indent="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868680"/>
          </a:xfrm>
          <a:prstGeom prst="rect">
            <a:avLst/>
          </a:prstGeom>
          <a:noFill/>
          <a:ln/>
        </p:spPr>
        <p:txBody>
          <a:bodyPr wrap="square" rtlCol="0"/>
          <a:lstStyle>
            <a:lvl1pPr marL="0" indent="0">
              <a:buNone/>
              <a:defRPr lang="en-US" sz="3000" b="1" dirty="0">
                <a:solidFill>
                  <a:schemeClr val="tx2"/>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Phishing Website Detection · ML PBL</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920240"/>
            <a:ext cx="10515600" cy="146304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Phishing Website Detection</a:t>
            </a:r>
            <a:endParaRPr lang="en-US" sz="4400" dirty="0"/>
          </a:p>
        </p:txBody>
      </p:sp>
      <p:sp>
        <p:nvSpPr>
          <p:cNvPr id="3" name="Text 0"/>
          <p:cNvSpPr>
            <a:spLocks noGrp="1"/>
          </p:cNvSpPr>
          <p:nvPr>
            <p:ph type="body" idx="101" hasCustomPrompt="1"/>
          </p:nvPr>
        </p:nvSpPr>
        <p:spPr>
          <a:xfrm>
            <a:off x="548640" y="3520440"/>
            <a:ext cx="10515600" cy="1097280"/>
          </a:xfrm>
          <a:prstGeom prst="rect">
            <a:avLst/>
          </a:prstGeom>
          <a:noFill/>
          <a:ln/>
        </p:spPr>
        <p:txBody>
          <a:bodyPr wrap="square" lIns="0" tIns="0" rIns="0" bIns="0" rtlCol="0" anchor="t"/>
          <a:lstStyle/>
          <a:p>
            <a:pPr marL="0" indent="0">
              <a:buNone/>
            </a:pPr>
            <a:r>
              <a:rPr lang="en-US" sz="2000" dirty="0">
                <a:solidFill>
                  <a:srgbClr val="CADCEB"/>
                </a:solidFill>
              </a:rPr>
              <a:t>Logistic Regression &amp; </a:t>
            </a:r>
            <a:r>
              <a:rPr lang="en-US" sz="2000">
                <a:solidFill>
                  <a:srgbClr val="CADCEB"/>
                </a:solidFill>
              </a:rPr>
              <a:t>Gradient Descent built </a:t>
            </a:r>
            <a:r>
              <a:rPr lang="en-US" sz="2000" dirty="0">
                <a:solidFill>
                  <a:srgbClr val="CADCEB"/>
                </a:solidFill>
              </a:rPr>
              <a:t>from scratch in NumPy</a:t>
            </a:r>
            <a:endParaRPr lang="en-US" sz="2000" dirty="0"/>
          </a:p>
        </p:txBody>
      </p:sp>
      <p:sp>
        <p:nvSpPr>
          <p:cNvPr id="4" name="Text 2"/>
          <p:cNvSpPr txBox="1"/>
          <p:nvPr/>
        </p:nvSpPr>
        <p:spPr>
          <a:xfrm>
            <a:off x="548640" y="5852160"/>
            <a:ext cx="10972800" cy="365760"/>
          </a:xfrm>
          <a:prstGeom prst="rect">
            <a:avLst/>
          </a:prstGeom>
          <a:noFill/>
          <a:ln/>
        </p:spPr>
        <p:txBody>
          <a:bodyPr wrap="square" lIns="0" tIns="0" rIns="0" bIns="0" rtlCol="0" anchor="t"/>
          <a:lstStyle/>
          <a:p>
            <a:pPr marL="0" indent="0">
              <a:buNone/>
            </a:pPr>
            <a:r>
              <a:rPr lang="en-US" sz="1400" dirty="0">
                <a:solidFill>
                  <a:srgbClr val="CADCEB"/>
                </a:solidFill>
              </a:rPr>
              <a:t>7th Semester Computer Engineering · Machine Learning Project-Based Learning · UCI Phishing Websites dataset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868680"/>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The problem: spot phishing sites from 30 simple signals</a:t>
            </a:r>
            <a:endParaRPr lang="en-US" sz="3000" dirty="0"/>
          </a:p>
        </p:txBody>
      </p:sp>
      <p:sp>
        <p:nvSpPr>
          <p:cNvPr id="3" name="Text 1"/>
          <p:cNvSpPr txBox="1"/>
          <p:nvPr/>
        </p:nvSpPr>
        <p:spPr>
          <a:xfrm>
            <a:off x="548640" y="1371600"/>
            <a:ext cx="4937760" cy="1828800"/>
          </a:xfrm>
          <a:prstGeom prst="rect">
            <a:avLst/>
          </a:prstGeom>
          <a:noFill/>
          <a:ln/>
        </p:spPr>
        <p:txBody>
          <a:bodyPr wrap="square" lIns="0" tIns="0" rIns="0" bIns="0" rtlCol="0" anchor="t"/>
          <a:lstStyle/>
          <a:p>
            <a:pPr marL="0" indent="0">
              <a:buNone/>
            </a:pPr>
            <a:r>
              <a:rPr lang="en-US" sz="1800" dirty="0">
                <a:solidFill>
                  <a:schemeClr val="tx1"/>
                </a:solidFill>
              </a:rPr>
              <a:t>Phishing websites copy trusted brands — banks, e-mail, shops — to steal passwords and card details. Blacklists only react after a site is reported, so a model that reads warning signs can flag new sites earlier.</a:t>
            </a:r>
            <a:endParaRPr lang="en-US" sz="1800" dirty="0"/>
          </a:p>
        </p:txBody>
      </p:sp>
      <p:sp>
        <p:nvSpPr>
          <p:cNvPr id="4" name="Text 2"/>
          <p:cNvSpPr txBox="1"/>
          <p:nvPr/>
        </p:nvSpPr>
        <p:spPr>
          <a:xfrm>
            <a:off x="548640" y="3383280"/>
            <a:ext cx="4937760" cy="365760"/>
          </a:xfrm>
          <a:prstGeom prst="rect">
            <a:avLst/>
          </a:prstGeom>
          <a:noFill/>
          <a:ln/>
        </p:spPr>
        <p:txBody>
          <a:bodyPr wrap="square" lIns="0" tIns="0" rIns="0" bIns="0" rtlCol="0" anchor="t"/>
          <a:lstStyle/>
          <a:p>
            <a:pPr marL="0" indent="0">
              <a:buNone/>
            </a:pPr>
            <a:r>
              <a:rPr lang="en-US" sz="1400" i="1" dirty="0">
                <a:solidFill>
                  <a:schemeClr val="accent6"/>
                </a:solidFill>
              </a:rPr>
              <a:t>Positive class = phishing (1); legitimate = 0</a:t>
            </a:r>
            <a:endParaRPr lang="en-US" sz="1400" dirty="0"/>
          </a:p>
        </p:txBody>
      </p:sp>
      <p:sp>
        <p:nvSpPr>
          <p:cNvPr id="5" name="goal1"/>
          <p:cNvSpPr/>
          <p:nvPr/>
        </p:nvSpPr>
        <p:spPr>
          <a:xfrm>
            <a:off x="6035040" y="1371600"/>
            <a:ext cx="5605272" cy="1280160"/>
          </a:xfrm>
          <a:prstGeom prst="roundRect">
            <a:avLst>
              <a:gd name="adj" fmla="val 8571"/>
            </a:avLst>
          </a:prstGeom>
          <a:solidFill>
            <a:schemeClr val="bg2"/>
          </a:solidFill>
          <a:ln/>
        </p:spPr>
        <p:txBody>
          <a:bodyPr/>
          <a:lstStyle/>
          <a:p>
            <a:endParaRPr lang="en-US"/>
          </a:p>
        </p:txBody>
      </p:sp>
      <p:sp>
        <p:nvSpPr>
          <p:cNvPr id="6" name="Shape 4"/>
          <p:cNvSpPr/>
          <p:nvPr/>
        </p:nvSpPr>
        <p:spPr>
          <a:xfrm>
            <a:off x="6263640" y="1755648"/>
            <a:ext cx="502920" cy="502920"/>
          </a:xfrm>
          <a:prstGeom prst="ellipse">
            <a:avLst/>
          </a:prstGeom>
          <a:solidFill>
            <a:schemeClr val="accent1"/>
          </a:solidFill>
          <a:ln/>
        </p:spPr>
        <p:txBody>
          <a:bodyPr/>
          <a:lstStyle/>
          <a:p>
            <a:endParaRPr lang="en-US"/>
          </a:p>
        </p:txBody>
      </p:sp>
      <p:sp>
        <p:nvSpPr>
          <p:cNvPr id="7" name="Text 5"/>
          <p:cNvSpPr txBox="1"/>
          <p:nvPr/>
        </p:nvSpPr>
        <p:spPr>
          <a:xfrm>
            <a:off x="6263640" y="175564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6"/>
          <p:cNvSpPr txBox="1"/>
          <p:nvPr/>
        </p:nvSpPr>
        <p:spPr>
          <a:xfrm>
            <a:off x="6995160" y="1572768"/>
            <a:ext cx="4480560" cy="411480"/>
          </a:xfrm>
          <a:prstGeom prst="rect">
            <a:avLst/>
          </a:prstGeom>
          <a:noFill/>
          <a:ln/>
        </p:spPr>
        <p:txBody>
          <a:bodyPr wrap="square" lIns="0" tIns="0" rIns="0" bIns="0" rtlCol="0" anchor="t"/>
          <a:lstStyle/>
          <a:p>
            <a:pPr marL="0" indent="0">
              <a:buNone/>
            </a:pPr>
            <a:r>
              <a:rPr lang="en-US" sz="1800" b="1" dirty="0">
                <a:solidFill>
                  <a:schemeClr val="tx2"/>
                </a:solidFill>
              </a:rPr>
              <a:t>Build the model ourselves</a:t>
            </a:r>
            <a:endParaRPr lang="en-US" sz="1800" dirty="0"/>
          </a:p>
        </p:txBody>
      </p:sp>
      <p:sp>
        <p:nvSpPr>
          <p:cNvPr id="9" name="Text 7"/>
          <p:cNvSpPr txBox="1"/>
          <p:nvPr/>
        </p:nvSpPr>
        <p:spPr>
          <a:xfrm>
            <a:off x="6995160" y="1993392"/>
            <a:ext cx="4480560" cy="548640"/>
          </a:xfrm>
          <a:prstGeom prst="rect">
            <a:avLst/>
          </a:prstGeom>
          <a:noFill/>
          <a:ln/>
        </p:spPr>
        <p:txBody>
          <a:bodyPr wrap="square" lIns="0" tIns="0" rIns="0" bIns="0" rtlCol="0" anchor="t"/>
          <a:lstStyle/>
          <a:p>
            <a:pPr marL="0" indent="0">
              <a:buNone/>
            </a:pPr>
            <a:r>
              <a:rPr lang="en-US" sz="1400" dirty="0">
                <a:solidFill>
                  <a:schemeClr val="tx1"/>
                </a:solidFill>
              </a:rPr>
              <a:t>Logistic Regression with gradient descent, cross-entropy and L2 — NumPy only</a:t>
            </a:r>
            <a:endParaRPr lang="en-US" sz="1400" dirty="0"/>
          </a:p>
        </p:txBody>
      </p:sp>
      <p:sp>
        <p:nvSpPr>
          <p:cNvPr id="10" name="goal2"/>
          <p:cNvSpPr/>
          <p:nvPr/>
        </p:nvSpPr>
        <p:spPr>
          <a:xfrm>
            <a:off x="6035040" y="2880360"/>
            <a:ext cx="5605272" cy="1280160"/>
          </a:xfrm>
          <a:prstGeom prst="roundRect">
            <a:avLst>
              <a:gd name="adj" fmla="val 8571"/>
            </a:avLst>
          </a:prstGeom>
          <a:solidFill>
            <a:schemeClr val="bg2"/>
          </a:solidFill>
          <a:ln/>
        </p:spPr>
        <p:txBody>
          <a:bodyPr/>
          <a:lstStyle/>
          <a:p>
            <a:endParaRPr lang="en-US"/>
          </a:p>
        </p:txBody>
      </p:sp>
      <p:sp>
        <p:nvSpPr>
          <p:cNvPr id="11" name="Shape 9"/>
          <p:cNvSpPr/>
          <p:nvPr/>
        </p:nvSpPr>
        <p:spPr>
          <a:xfrm>
            <a:off x="6263640" y="3264408"/>
            <a:ext cx="502920" cy="502920"/>
          </a:xfrm>
          <a:prstGeom prst="ellipse">
            <a:avLst/>
          </a:prstGeom>
          <a:solidFill>
            <a:schemeClr val="accent1"/>
          </a:solidFill>
          <a:ln/>
        </p:spPr>
        <p:txBody>
          <a:bodyPr/>
          <a:lstStyle/>
          <a:p>
            <a:endParaRPr lang="en-US"/>
          </a:p>
        </p:txBody>
      </p:sp>
      <p:sp>
        <p:nvSpPr>
          <p:cNvPr id="12" name="Text 10"/>
          <p:cNvSpPr txBox="1"/>
          <p:nvPr/>
        </p:nvSpPr>
        <p:spPr>
          <a:xfrm>
            <a:off x="6263640" y="326440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Text 11"/>
          <p:cNvSpPr txBox="1"/>
          <p:nvPr/>
        </p:nvSpPr>
        <p:spPr>
          <a:xfrm>
            <a:off x="6995160" y="3081528"/>
            <a:ext cx="4480560" cy="411480"/>
          </a:xfrm>
          <a:prstGeom prst="rect">
            <a:avLst/>
          </a:prstGeom>
          <a:noFill/>
          <a:ln/>
        </p:spPr>
        <p:txBody>
          <a:bodyPr wrap="square" lIns="0" tIns="0" rIns="0" bIns="0" rtlCol="0" anchor="t"/>
          <a:lstStyle/>
          <a:p>
            <a:pPr marL="0" indent="0">
              <a:buNone/>
            </a:pPr>
            <a:r>
              <a:rPr lang="en-US" sz="1800" b="1" dirty="0">
                <a:solidFill>
                  <a:schemeClr val="tx2"/>
                </a:solidFill>
              </a:rPr>
              <a:t>Keep the evaluation honest</a:t>
            </a:r>
            <a:endParaRPr lang="en-US" sz="1800" dirty="0"/>
          </a:p>
        </p:txBody>
      </p:sp>
      <p:sp>
        <p:nvSpPr>
          <p:cNvPr id="14" name="Text 12"/>
          <p:cNvSpPr txBox="1"/>
          <p:nvPr/>
        </p:nvSpPr>
        <p:spPr>
          <a:xfrm>
            <a:off x="6995160" y="3502152"/>
            <a:ext cx="4480560" cy="548640"/>
          </a:xfrm>
          <a:prstGeom prst="rect">
            <a:avLst/>
          </a:prstGeom>
          <a:noFill/>
          <a:ln/>
        </p:spPr>
        <p:txBody>
          <a:bodyPr wrap="square" lIns="0" tIns="0" rIns="0" bIns="0" rtlCol="0" anchor="t"/>
          <a:lstStyle/>
          <a:p>
            <a:pPr marL="0" indent="0">
              <a:buNone/>
            </a:pPr>
            <a:r>
              <a:rPr lang="en-US" sz="1400" dirty="0">
                <a:solidFill>
                  <a:schemeClr val="tx1"/>
                </a:solidFill>
              </a:rPr>
              <a:t>Audit duplicates, tune on validation, touch the test set once</a:t>
            </a:r>
            <a:endParaRPr lang="en-US" sz="1400" dirty="0"/>
          </a:p>
        </p:txBody>
      </p:sp>
      <p:sp>
        <p:nvSpPr>
          <p:cNvPr id="15" name="goal3"/>
          <p:cNvSpPr/>
          <p:nvPr/>
        </p:nvSpPr>
        <p:spPr>
          <a:xfrm>
            <a:off x="6035040" y="4389120"/>
            <a:ext cx="5605272" cy="1280160"/>
          </a:xfrm>
          <a:prstGeom prst="roundRect">
            <a:avLst>
              <a:gd name="adj" fmla="val 8571"/>
            </a:avLst>
          </a:prstGeom>
          <a:solidFill>
            <a:schemeClr val="bg2"/>
          </a:solidFill>
          <a:ln/>
        </p:spPr>
        <p:txBody>
          <a:bodyPr/>
          <a:lstStyle/>
          <a:p>
            <a:endParaRPr lang="en-US"/>
          </a:p>
        </p:txBody>
      </p:sp>
      <p:sp>
        <p:nvSpPr>
          <p:cNvPr id="16" name="Shape 14"/>
          <p:cNvSpPr/>
          <p:nvPr/>
        </p:nvSpPr>
        <p:spPr>
          <a:xfrm>
            <a:off x="6263640" y="4773168"/>
            <a:ext cx="502920" cy="502920"/>
          </a:xfrm>
          <a:prstGeom prst="ellipse">
            <a:avLst/>
          </a:prstGeom>
          <a:solidFill>
            <a:schemeClr val="accent1"/>
          </a:solidFill>
          <a:ln/>
        </p:spPr>
        <p:txBody>
          <a:bodyPr/>
          <a:lstStyle/>
          <a:p>
            <a:endParaRPr lang="en-US"/>
          </a:p>
        </p:txBody>
      </p:sp>
      <p:sp>
        <p:nvSpPr>
          <p:cNvPr id="17" name="Text 15"/>
          <p:cNvSpPr txBox="1"/>
          <p:nvPr/>
        </p:nvSpPr>
        <p:spPr>
          <a:xfrm>
            <a:off x="6263640" y="477316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8" name="Text 16"/>
          <p:cNvSpPr txBox="1"/>
          <p:nvPr/>
        </p:nvSpPr>
        <p:spPr>
          <a:xfrm>
            <a:off x="6995160" y="4590288"/>
            <a:ext cx="4480560" cy="411480"/>
          </a:xfrm>
          <a:prstGeom prst="rect">
            <a:avLst/>
          </a:prstGeom>
          <a:noFill/>
          <a:ln/>
        </p:spPr>
        <p:txBody>
          <a:bodyPr wrap="square" lIns="0" tIns="0" rIns="0" bIns="0" rtlCol="0" anchor="t"/>
          <a:lstStyle/>
          <a:p>
            <a:pPr marL="0" indent="0">
              <a:buNone/>
            </a:pPr>
            <a:r>
              <a:rPr lang="en-US" sz="1800" b="1" dirty="0">
                <a:solidFill>
                  <a:schemeClr val="tx2"/>
                </a:solidFill>
              </a:rPr>
              <a:t>Explain the results</a:t>
            </a:r>
            <a:endParaRPr lang="en-US" sz="1800" dirty="0"/>
          </a:p>
        </p:txBody>
      </p:sp>
      <p:sp>
        <p:nvSpPr>
          <p:cNvPr id="19" name="Text 17"/>
          <p:cNvSpPr txBox="1"/>
          <p:nvPr/>
        </p:nvSpPr>
        <p:spPr>
          <a:xfrm>
            <a:off x="6995160" y="5010912"/>
            <a:ext cx="4480560" cy="548640"/>
          </a:xfrm>
          <a:prstGeom prst="rect">
            <a:avLst/>
          </a:prstGeom>
          <a:noFill/>
          <a:ln/>
        </p:spPr>
        <p:txBody>
          <a:bodyPr wrap="square" lIns="0" tIns="0" rIns="0" bIns="0" rtlCol="0" anchor="t"/>
          <a:lstStyle/>
          <a:p>
            <a:pPr marL="0" indent="0">
              <a:buNone/>
            </a:pPr>
            <a:r>
              <a:rPr lang="en-US" sz="1400" dirty="0">
                <a:solidFill>
                  <a:schemeClr val="tx1"/>
                </a:solidFill>
              </a:rPr>
              <a:t>Overfitting checks, feature importance, a demo app</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868680"/>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Dataset: 11,055 websites — almost half are copies</a:t>
            </a:r>
            <a:endParaRPr lang="en-US" sz="3000" dirty="0"/>
          </a:p>
        </p:txBody>
      </p:sp>
      <p:sp>
        <p:nvSpPr>
          <p:cNvPr id="3" name="Text 1"/>
          <p:cNvSpPr txBox="1"/>
          <p:nvPr/>
        </p:nvSpPr>
        <p:spPr>
          <a:xfrm>
            <a:off x="548640" y="1417320"/>
            <a:ext cx="2560320" cy="777240"/>
          </a:xfrm>
          <a:prstGeom prst="rect">
            <a:avLst/>
          </a:prstGeom>
          <a:noFill/>
          <a:ln/>
        </p:spPr>
        <p:txBody>
          <a:bodyPr wrap="square" lIns="0" tIns="0" rIns="0" bIns="0" rtlCol="0" anchor="t"/>
          <a:lstStyle/>
          <a:p>
            <a:pPr marL="0" indent="0">
              <a:buNone/>
            </a:pPr>
            <a:r>
              <a:rPr lang="en-US" sz="4000" b="1" dirty="0">
                <a:solidFill>
                  <a:schemeClr val="tx2"/>
                </a:solidFill>
                <a:latin typeface="Cambria" pitchFamily="34" charset="0"/>
                <a:ea typeface="Cambria" pitchFamily="34" charset="-122"/>
                <a:cs typeface="Cambria" pitchFamily="34" charset="-120"/>
              </a:rPr>
              <a:t>11,055</a:t>
            </a:r>
            <a:endParaRPr lang="en-US" sz="4000" dirty="0"/>
          </a:p>
        </p:txBody>
      </p:sp>
      <p:sp>
        <p:nvSpPr>
          <p:cNvPr id="4" name="Text 2"/>
          <p:cNvSpPr txBox="1"/>
          <p:nvPr/>
        </p:nvSpPr>
        <p:spPr>
          <a:xfrm>
            <a:off x="548640" y="2194560"/>
            <a:ext cx="2560320" cy="640080"/>
          </a:xfrm>
          <a:prstGeom prst="rect">
            <a:avLst/>
          </a:prstGeom>
          <a:noFill/>
          <a:ln/>
        </p:spPr>
        <p:txBody>
          <a:bodyPr wrap="square" lIns="0" tIns="0" rIns="0" bIns="0" rtlCol="0" anchor="t"/>
          <a:lstStyle/>
          <a:p>
            <a:pPr marL="0" indent="0">
              <a:buNone/>
            </a:pPr>
            <a:r>
              <a:rPr lang="en-US" sz="1400" dirty="0">
                <a:solidFill>
                  <a:schemeClr val="accent6"/>
                </a:solidFill>
              </a:rPr>
              <a:t>websites in the UCI file</a:t>
            </a:r>
            <a:endParaRPr lang="en-US" sz="1400" dirty="0"/>
          </a:p>
        </p:txBody>
      </p:sp>
      <p:sp>
        <p:nvSpPr>
          <p:cNvPr id="5" name="Text 3"/>
          <p:cNvSpPr txBox="1"/>
          <p:nvPr/>
        </p:nvSpPr>
        <p:spPr>
          <a:xfrm>
            <a:off x="3337560" y="1417320"/>
            <a:ext cx="2560320" cy="777240"/>
          </a:xfrm>
          <a:prstGeom prst="rect">
            <a:avLst/>
          </a:prstGeom>
          <a:noFill/>
          <a:ln/>
        </p:spPr>
        <p:txBody>
          <a:bodyPr wrap="square" lIns="0" tIns="0" rIns="0" bIns="0" rtlCol="0" anchor="t"/>
          <a:lstStyle/>
          <a:p>
            <a:pPr marL="0" indent="0">
              <a:buNone/>
            </a:pPr>
            <a:r>
              <a:rPr lang="en-US" sz="4000" b="1" dirty="0">
                <a:solidFill>
                  <a:schemeClr val="tx2"/>
                </a:solidFill>
                <a:latin typeface="Cambria" pitchFamily="34" charset="0"/>
                <a:ea typeface="Cambria" pitchFamily="34" charset="-122"/>
                <a:cs typeface="Cambria" pitchFamily="34" charset="-120"/>
              </a:rPr>
              <a:t>30</a:t>
            </a:r>
            <a:endParaRPr lang="en-US" sz="4000" dirty="0"/>
          </a:p>
        </p:txBody>
      </p:sp>
      <p:sp>
        <p:nvSpPr>
          <p:cNvPr id="6" name="Text 4"/>
          <p:cNvSpPr txBox="1"/>
          <p:nvPr/>
        </p:nvSpPr>
        <p:spPr>
          <a:xfrm>
            <a:off x="3337560" y="2194560"/>
            <a:ext cx="2560320" cy="640080"/>
          </a:xfrm>
          <a:prstGeom prst="rect">
            <a:avLst/>
          </a:prstGeom>
          <a:noFill/>
          <a:ln/>
        </p:spPr>
        <p:txBody>
          <a:bodyPr wrap="square" lIns="0" tIns="0" rIns="0" bIns="0" rtlCol="0" anchor="t"/>
          <a:lstStyle/>
          <a:p>
            <a:pPr marL="0" indent="0">
              <a:buNone/>
            </a:pPr>
            <a:r>
              <a:rPr lang="en-US" sz="1400" dirty="0">
                <a:solidFill>
                  <a:schemeClr val="accent6"/>
                </a:solidFill>
              </a:rPr>
              <a:t>features, each coded −1, 0 or 1</a:t>
            </a:r>
            <a:endParaRPr lang="en-US" sz="1400" dirty="0"/>
          </a:p>
        </p:txBody>
      </p:sp>
      <p:sp>
        <p:nvSpPr>
          <p:cNvPr id="7" name="Text 5"/>
          <p:cNvSpPr txBox="1"/>
          <p:nvPr/>
        </p:nvSpPr>
        <p:spPr>
          <a:xfrm>
            <a:off x="6126480" y="1417320"/>
            <a:ext cx="2560320" cy="77724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47.1%</a:t>
            </a:r>
            <a:endParaRPr lang="en-US" sz="4000" dirty="0"/>
          </a:p>
        </p:txBody>
      </p:sp>
      <p:sp>
        <p:nvSpPr>
          <p:cNvPr id="8" name="Text 6"/>
          <p:cNvSpPr txBox="1"/>
          <p:nvPr/>
        </p:nvSpPr>
        <p:spPr>
          <a:xfrm>
            <a:off x="6126480" y="2194560"/>
            <a:ext cx="2560320" cy="640080"/>
          </a:xfrm>
          <a:prstGeom prst="rect">
            <a:avLst/>
          </a:prstGeom>
          <a:noFill/>
          <a:ln/>
        </p:spPr>
        <p:txBody>
          <a:bodyPr wrap="square" lIns="0" tIns="0" rIns="0" bIns="0" rtlCol="0" anchor="t"/>
          <a:lstStyle/>
          <a:p>
            <a:pPr marL="0" indent="0">
              <a:buNone/>
            </a:pPr>
            <a:r>
              <a:rPr lang="en-US" sz="1400" dirty="0">
                <a:solidFill>
                  <a:schemeClr val="accent6"/>
                </a:solidFill>
              </a:rPr>
              <a:t>rows that are exact duplicates</a:t>
            </a:r>
            <a:endParaRPr lang="en-US" sz="1400" dirty="0"/>
          </a:p>
        </p:txBody>
      </p:sp>
      <p:sp>
        <p:nvSpPr>
          <p:cNvPr id="9" name="Text 7"/>
          <p:cNvSpPr txBox="1"/>
          <p:nvPr/>
        </p:nvSpPr>
        <p:spPr>
          <a:xfrm>
            <a:off x="8915400" y="1417320"/>
            <a:ext cx="2560320" cy="777240"/>
          </a:xfrm>
          <a:prstGeom prst="rect">
            <a:avLst/>
          </a:prstGeom>
          <a:noFill/>
          <a:ln/>
        </p:spPr>
        <p:txBody>
          <a:bodyPr wrap="square" lIns="0" tIns="0" rIns="0" bIns="0" rtlCol="0" anchor="t"/>
          <a:lstStyle/>
          <a:p>
            <a:pPr marL="0" indent="0">
              <a:buNone/>
            </a:pPr>
            <a:r>
              <a:rPr lang="en-US" sz="4000" b="1" dirty="0">
                <a:solidFill>
                  <a:schemeClr val="tx2"/>
                </a:solidFill>
                <a:latin typeface="Cambria" pitchFamily="34" charset="0"/>
                <a:ea typeface="Cambria" pitchFamily="34" charset="-122"/>
                <a:cs typeface="Cambria" pitchFamily="34" charset="-120"/>
              </a:rPr>
              <a:t>5,721</a:t>
            </a:r>
            <a:endParaRPr lang="en-US" sz="4000" dirty="0"/>
          </a:p>
        </p:txBody>
      </p:sp>
      <p:sp>
        <p:nvSpPr>
          <p:cNvPr id="10" name="Text 8"/>
          <p:cNvSpPr txBox="1"/>
          <p:nvPr/>
        </p:nvSpPr>
        <p:spPr>
          <a:xfrm>
            <a:off x="8915400" y="2194560"/>
            <a:ext cx="2560320" cy="640080"/>
          </a:xfrm>
          <a:prstGeom prst="rect">
            <a:avLst/>
          </a:prstGeom>
          <a:noFill/>
          <a:ln/>
        </p:spPr>
        <p:txBody>
          <a:bodyPr wrap="square" lIns="0" tIns="0" rIns="0" bIns="0" rtlCol="0" anchor="t"/>
          <a:lstStyle/>
          <a:p>
            <a:pPr marL="0" indent="0">
              <a:buNone/>
            </a:pPr>
            <a:r>
              <a:rPr lang="en-US" sz="1400" dirty="0">
                <a:solidFill>
                  <a:schemeClr val="accent6"/>
                </a:solidFill>
              </a:rPr>
              <a:t>unique rows after cleaning</a:t>
            </a:r>
            <a:endParaRPr lang="en-US" sz="1400" dirty="0"/>
          </a:p>
        </p:txBody>
      </p:sp>
      <p:sp>
        <p:nvSpPr>
          <p:cNvPr id="11" name="group1"/>
          <p:cNvSpPr/>
          <p:nvPr/>
        </p:nvSpPr>
        <p:spPr>
          <a:xfrm>
            <a:off x="548640" y="3337560"/>
            <a:ext cx="5440680" cy="1188720"/>
          </a:xfrm>
          <a:prstGeom prst="roundRect">
            <a:avLst>
              <a:gd name="adj" fmla="val 9231"/>
            </a:avLst>
          </a:prstGeom>
          <a:solidFill>
            <a:schemeClr val="bg2"/>
          </a:solidFill>
          <a:ln/>
        </p:spPr>
        <p:txBody>
          <a:bodyPr/>
          <a:lstStyle/>
          <a:p>
            <a:endParaRPr lang="en-US"/>
          </a:p>
        </p:txBody>
      </p:sp>
      <p:sp>
        <p:nvSpPr>
          <p:cNvPr id="12" name="Shape 10"/>
          <p:cNvSpPr/>
          <p:nvPr/>
        </p:nvSpPr>
        <p:spPr>
          <a:xfrm>
            <a:off x="777240" y="3675888"/>
            <a:ext cx="502920" cy="502920"/>
          </a:xfrm>
          <a:prstGeom prst="ellipse">
            <a:avLst/>
          </a:prstGeom>
          <a:solidFill>
            <a:schemeClr val="accent4"/>
          </a:solidFill>
          <a:ln/>
        </p:spPr>
        <p:txBody>
          <a:bodyPr/>
          <a:lstStyle/>
          <a:p>
            <a:endParaRPr lang="en-US"/>
          </a:p>
        </p:txBody>
      </p:sp>
      <p:sp>
        <p:nvSpPr>
          <p:cNvPr id="13" name="Text 11"/>
          <p:cNvSpPr txBox="1"/>
          <p:nvPr/>
        </p:nvSpPr>
        <p:spPr>
          <a:xfrm>
            <a:off x="777240" y="367588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12</a:t>
            </a:r>
            <a:endParaRPr lang="en-US" sz="1600" dirty="0"/>
          </a:p>
        </p:txBody>
      </p:sp>
      <p:sp>
        <p:nvSpPr>
          <p:cNvPr id="14" name="Text 12"/>
          <p:cNvSpPr txBox="1"/>
          <p:nvPr/>
        </p:nvSpPr>
        <p:spPr>
          <a:xfrm>
            <a:off x="1463040" y="3502152"/>
            <a:ext cx="4389120" cy="365760"/>
          </a:xfrm>
          <a:prstGeom prst="rect">
            <a:avLst/>
          </a:prstGeom>
          <a:noFill/>
          <a:ln/>
        </p:spPr>
        <p:txBody>
          <a:bodyPr wrap="square" lIns="0" tIns="0" rIns="0" bIns="0" rtlCol="0" anchor="t"/>
          <a:lstStyle/>
          <a:p>
            <a:pPr marL="0" indent="0">
              <a:buNone/>
            </a:pPr>
            <a:r>
              <a:rPr lang="en-US" sz="1700" b="1" dirty="0">
                <a:solidFill>
                  <a:schemeClr val="tx2"/>
                </a:solidFill>
              </a:rPr>
              <a:t>URL / address bar</a:t>
            </a:r>
            <a:endParaRPr lang="en-US" sz="1700" dirty="0"/>
          </a:p>
        </p:txBody>
      </p:sp>
      <p:sp>
        <p:nvSpPr>
          <p:cNvPr id="15" name="Text 13"/>
          <p:cNvSpPr txBox="1"/>
          <p:nvPr/>
        </p:nvSpPr>
        <p:spPr>
          <a:xfrm>
            <a:off x="1463040" y="3886200"/>
            <a:ext cx="4389120" cy="548640"/>
          </a:xfrm>
          <a:prstGeom prst="rect">
            <a:avLst/>
          </a:prstGeom>
          <a:noFill/>
          <a:ln/>
        </p:spPr>
        <p:txBody>
          <a:bodyPr wrap="square" lIns="0" tIns="0" rIns="0" bIns="0" rtlCol="0" anchor="t"/>
          <a:lstStyle/>
          <a:p>
            <a:pPr marL="0" indent="0">
              <a:buNone/>
            </a:pPr>
            <a:r>
              <a:rPr lang="en-US" sz="1300" dirty="0">
                <a:solidFill>
                  <a:schemeClr val="tx1"/>
                </a:solidFill>
              </a:rPr>
              <a:t>IP in URL, length, '@', dash, sub-domains, HTTPS certificate</a:t>
            </a:r>
            <a:endParaRPr lang="en-US" sz="1300" dirty="0"/>
          </a:p>
        </p:txBody>
      </p:sp>
      <p:sp>
        <p:nvSpPr>
          <p:cNvPr id="16" name="group2"/>
          <p:cNvSpPr/>
          <p:nvPr/>
        </p:nvSpPr>
        <p:spPr>
          <a:xfrm>
            <a:off x="6172200" y="3337560"/>
            <a:ext cx="5440680" cy="1188720"/>
          </a:xfrm>
          <a:prstGeom prst="roundRect">
            <a:avLst>
              <a:gd name="adj" fmla="val 9231"/>
            </a:avLst>
          </a:prstGeom>
          <a:solidFill>
            <a:schemeClr val="bg2"/>
          </a:solidFill>
          <a:ln/>
        </p:spPr>
        <p:txBody>
          <a:bodyPr/>
          <a:lstStyle/>
          <a:p>
            <a:endParaRPr lang="en-US"/>
          </a:p>
        </p:txBody>
      </p:sp>
      <p:sp>
        <p:nvSpPr>
          <p:cNvPr id="17" name="Shape 15"/>
          <p:cNvSpPr/>
          <p:nvPr/>
        </p:nvSpPr>
        <p:spPr>
          <a:xfrm>
            <a:off x="6400800" y="3675888"/>
            <a:ext cx="502920" cy="502920"/>
          </a:xfrm>
          <a:prstGeom prst="ellipse">
            <a:avLst/>
          </a:prstGeom>
          <a:solidFill>
            <a:schemeClr val="accent4"/>
          </a:solidFill>
          <a:ln/>
        </p:spPr>
        <p:txBody>
          <a:bodyPr/>
          <a:lstStyle/>
          <a:p>
            <a:endParaRPr lang="en-US"/>
          </a:p>
        </p:txBody>
      </p:sp>
      <p:sp>
        <p:nvSpPr>
          <p:cNvPr id="18" name="Text 16"/>
          <p:cNvSpPr txBox="1"/>
          <p:nvPr/>
        </p:nvSpPr>
        <p:spPr>
          <a:xfrm>
            <a:off x="6400800" y="367588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19" name="Text 17"/>
          <p:cNvSpPr txBox="1"/>
          <p:nvPr/>
        </p:nvSpPr>
        <p:spPr>
          <a:xfrm>
            <a:off x="7086600" y="3502152"/>
            <a:ext cx="4389120" cy="365760"/>
          </a:xfrm>
          <a:prstGeom prst="rect">
            <a:avLst/>
          </a:prstGeom>
          <a:noFill/>
          <a:ln/>
        </p:spPr>
        <p:txBody>
          <a:bodyPr wrap="square" lIns="0" tIns="0" rIns="0" bIns="0" rtlCol="0" anchor="t"/>
          <a:lstStyle/>
          <a:p>
            <a:pPr marL="0" indent="0">
              <a:buNone/>
            </a:pPr>
            <a:r>
              <a:rPr lang="en-US" sz="1700" b="1" dirty="0">
                <a:solidFill>
                  <a:schemeClr val="tx2"/>
                </a:solidFill>
              </a:rPr>
              <a:t>Page content</a:t>
            </a:r>
            <a:endParaRPr lang="en-US" sz="1700" dirty="0"/>
          </a:p>
        </p:txBody>
      </p:sp>
      <p:sp>
        <p:nvSpPr>
          <p:cNvPr id="20" name="Text 18"/>
          <p:cNvSpPr txBox="1"/>
          <p:nvPr/>
        </p:nvSpPr>
        <p:spPr>
          <a:xfrm>
            <a:off x="7086600" y="3886200"/>
            <a:ext cx="4389120" cy="548640"/>
          </a:xfrm>
          <a:prstGeom prst="rect">
            <a:avLst/>
          </a:prstGeom>
          <a:noFill/>
          <a:ln/>
        </p:spPr>
        <p:txBody>
          <a:bodyPr wrap="square" lIns="0" tIns="0" rIns="0" bIns="0" rtlCol="0" anchor="t"/>
          <a:lstStyle/>
          <a:p>
            <a:pPr marL="0" indent="0">
              <a:buNone/>
            </a:pPr>
            <a:r>
              <a:rPr lang="en-US" sz="1300" dirty="0">
                <a:solidFill>
                  <a:schemeClr val="tx1"/>
                </a:solidFill>
              </a:rPr>
              <a:t>external objects, anchor links, form handler, e-mail forms</a:t>
            </a:r>
            <a:endParaRPr lang="en-US" sz="1300" dirty="0"/>
          </a:p>
        </p:txBody>
      </p:sp>
      <p:sp>
        <p:nvSpPr>
          <p:cNvPr id="21" name="group3"/>
          <p:cNvSpPr/>
          <p:nvPr/>
        </p:nvSpPr>
        <p:spPr>
          <a:xfrm>
            <a:off x="548640" y="4709160"/>
            <a:ext cx="5440680" cy="1188720"/>
          </a:xfrm>
          <a:prstGeom prst="roundRect">
            <a:avLst>
              <a:gd name="adj" fmla="val 9231"/>
            </a:avLst>
          </a:prstGeom>
          <a:solidFill>
            <a:schemeClr val="bg2"/>
          </a:solidFill>
          <a:ln/>
        </p:spPr>
        <p:txBody>
          <a:bodyPr/>
          <a:lstStyle/>
          <a:p>
            <a:endParaRPr lang="en-US"/>
          </a:p>
        </p:txBody>
      </p:sp>
      <p:sp>
        <p:nvSpPr>
          <p:cNvPr id="22" name="Shape 20"/>
          <p:cNvSpPr/>
          <p:nvPr/>
        </p:nvSpPr>
        <p:spPr>
          <a:xfrm>
            <a:off x="777240" y="5047488"/>
            <a:ext cx="502920" cy="502920"/>
          </a:xfrm>
          <a:prstGeom prst="ellipse">
            <a:avLst/>
          </a:prstGeom>
          <a:solidFill>
            <a:schemeClr val="accent4"/>
          </a:solidFill>
          <a:ln/>
        </p:spPr>
        <p:txBody>
          <a:bodyPr/>
          <a:lstStyle/>
          <a:p>
            <a:endParaRPr lang="en-US"/>
          </a:p>
        </p:txBody>
      </p:sp>
      <p:sp>
        <p:nvSpPr>
          <p:cNvPr id="23" name="Text 21"/>
          <p:cNvSpPr txBox="1"/>
          <p:nvPr/>
        </p:nvSpPr>
        <p:spPr>
          <a:xfrm>
            <a:off x="777240" y="504748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4" name="Text 22"/>
          <p:cNvSpPr txBox="1"/>
          <p:nvPr/>
        </p:nvSpPr>
        <p:spPr>
          <a:xfrm>
            <a:off x="1463040" y="4873752"/>
            <a:ext cx="4389120" cy="365760"/>
          </a:xfrm>
          <a:prstGeom prst="rect">
            <a:avLst/>
          </a:prstGeom>
          <a:noFill/>
          <a:ln/>
        </p:spPr>
        <p:txBody>
          <a:bodyPr wrap="square" lIns="0" tIns="0" rIns="0" bIns="0" rtlCol="0" anchor="t"/>
          <a:lstStyle/>
          <a:p>
            <a:pPr marL="0" indent="0">
              <a:buNone/>
            </a:pPr>
            <a:r>
              <a:rPr lang="en-US" sz="1700" b="1" dirty="0">
                <a:solidFill>
                  <a:schemeClr val="tx2"/>
                </a:solidFill>
              </a:rPr>
              <a:t>HTML / JavaScript</a:t>
            </a:r>
            <a:endParaRPr lang="en-US" sz="1700" dirty="0"/>
          </a:p>
        </p:txBody>
      </p:sp>
      <p:sp>
        <p:nvSpPr>
          <p:cNvPr id="25" name="Text 23"/>
          <p:cNvSpPr txBox="1"/>
          <p:nvPr/>
        </p:nvSpPr>
        <p:spPr>
          <a:xfrm>
            <a:off x="1463040" y="5257800"/>
            <a:ext cx="4389120" cy="548640"/>
          </a:xfrm>
          <a:prstGeom prst="rect">
            <a:avLst/>
          </a:prstGeom>
          <a:noFill/>
          <a:ln/>
        </p:spPr>
        <p:txBody>
          <a:bodyPr wrap="square" lIns="0" tIns="0" rIns="0" bIns="0" rtlCol="0" anchor="t"/>
          <a:lstStyle/>
          <a:p>
            <a:pPr marL="0" indent="0">
              <a:buNone/>
            </a:pPr>
            <a:r>
              <a:rPr lang="en-US" sz="1300" dirty="0">
                <a:solidFill>
                  <a:schemeClr val="tx1"/>
                </a:solidFill>
              </a:rPr>
              <a:t>redirects, status-bar tricks, right-click, pop-ups, iframes</a:t>
            </a:r>
            <a:endParaRPr lang="en-US" sz="1300" dirty="0"/>
          </a:p>
        </p:txBody>
      </p:sp>
      <p:sp>
        <p:nvSpPr>
          <p:cNvPr id="26" name="group4"/>
          <p:cNvSpPr/>
          <p:nvPr/>
        </p:nvSpPr>
        <p:spPr>
          <a:xfrm>
            <a:off x="6172200" y="4709160"/>
            <a:ext cx="5440680" cy="1188720"/>
          </a:xfrm>
          <a:prstGeom prst="roundRect">
            <a:avLst>
              <a:gd name="adj" fmla="val 9231"/>
            </a:avLst>
          </a:prstGeom>
          <a:solidFill>
            <a:schemeClr val="bg2"/>
          </a:solidFill>
          <a:ln/>
        </p:spPr>
        <p:txBody>
          <a:bodyPr/>
          <a:lstStyle/>
          <a:p>
            <a:endParaRPr lang="en-US"/>
          </a:p>
        </p:txBody>
      </p:sp>
      <p:sp>
        <p:nvSpPr>
          <p:cNvPr id="27" name="Shape 25"/>
          <p:cNvSpPr/>
          <p:nvPr/>
        </p:nvSpPr>
        <p:spPr>
          <a:xfrm>
            <a:off x="6400800" y="5047488"/>
            <a:ext cx="502920" cy="502920"/>
          </a:xfrm>
          <a:prstGeom prst="ellipse">
            <a:avLst/>
          </a:prstGeom>
          <a:solidFill>
            <a:schemeClr val="accent4"/>
          </a:solidFill>
          <a:ln/>
        </p:spPr>
        <p:txBody>
          <a:bodyPr/>
          <a:lstStyle/>
          <a:p>
            <a:endParaRPr lang="en-US"/>
          </a:p>
        </p:txBody>
      </p:sp>
      <p:sp>
        <p:nvSpPr>
          <p:cNvPr id="28" name="Text 26"/>
          <p:cNvSpPr txBox="1"/>
          <p:nvPr/>
        </p:nvSpPr>
        <p:spPr>
          <a:xfrm>
            <a:off x="6400800" y="504748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7</a:t>
            </a:r>
            <a:endParaRPr lang="en-US" sz="1600" dirty="0"/>
          </a:p>
        </p:txBody>
      </p:sp>
      <p:sp>
        <p:nvSpPr>
          <p:cNvPr id="29" name="Text 27"/>
          <p:cNvSpPr txBox="1"/>
          <p:nvPr/>
        </p:nvSpPr>
        <p:spPr>
          <a:xfrm>
            <a:off x="7086600" y="4873752"/>
            <a:ext cx="4389120" cy="365760"/>
          </a:xfrm>
          <a:prstGeom prst="rect">
            <a:avLst/>
          </a:prstGeom>
          <a:noFill/>
          <a:ln/>
        </p:spPr>
        <p:txBody>
          <a:bodyPr wrap="square" lIns="0" tIns="0" rIns="0" bIns="0" rtlCol="0" anchor="t"/>
          <a:lstStyle/>
          <a:p>
            <a:pPr marL="0" indent="0">
              <a:buNone/>
            </a:pPr>
            <a:r>
              <a:rPr lang="en-US" sz="1700" b="1" dirty="0">
                <a:solidFill>
                  <a:schemeClr val="tx2"/>
                </a:solidFill>
              </a:rPr>
              <a:t>Domain / reputation</a:t>
            </a:r>
            <a:endParaRPr lang="en-US" sz="1700" dirty="0"/>
          </a:p>
        </p:txBody>
      </p:sp>
      <p:sp>
        <p:nvSpPr>
          <p:cNvPr id="30" name="Text 28"/>
          <p:cNvSpPr txBox="1"/>
          <p:nvPr/>
        </p:nvSpPr>
        <p:spPr>
          <a:xfrm>
            <a:off x="7086600" y="5257800"/>
            <a:ext cx="4389120" cy="548640"/>
          </a:xfrm>
          <a:prstGeom prst="rect">
            <a:avLst/>
          </a:prstGeom>
          <a:noFill/>
          <a:ln/>
        </p:spPr>
        <p:txBody>
          <a:bodyPr wrap="square" lIns="0" tIns="0" rIns="0" bIns="0" rtlCol="0" anchor="t"/>
          <a:lstStyle/>
          <a:p>
            <a:pPr marL="0" indent="0">
              <a:buNone/>
            </a:pPr>
            <a:r>
              <a:rPr lang="en-US" sz="1300" dirty="0">
                <a:solidFill>
                  <a:schemeClr val="tx1"/>
                </a:solidFill>
              </a:rPr>
              <a:t>domain age, DNS, traffic rank, PageRank, Google index</a:t>
            </a:r>
            <a:endParaRPr lang="en-US" sz="1300" dirty="0"/>
          </a:p>
        </p:txBody>
      </p:sp>
      <p:sp>
        <p:nvSpPr>
          <p:cNvPr id="31"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868680"/>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Cleaning before splitting keeps the test honest</a:t>
            </a:r>
            <a:endParaRPr lang="en-US" sz="3000" dirty="0"/>
          </a:p>
        </p:txBody>
      </p:sp>
      <p:sp>
        <p:nvSpPr>
          <p:cNvPr id="3" name="step1"/>
          <p:cNvSpPr/>
          <p:nvPr/>
        </p:nvSpPr>
        <p:spPr>
          <a:xfrm>
            <a:off x="548640" y="1554480"/>
            <a:ext cx="2514600" cy="2194560"/>
          </a:xfrm>
          <a:prstGeom prst="roundRect">
            <a:avLst>
              <a:gd name="adj" fmla="val 5000"/>
            </a:avLst>
          </a:prstGeom>
          <a:solidFill>
            <a:schemeClr val="bg2"/>
          </a:solidFill>
          <a:ln/>
        </p:spPr>
        <p:txBody>
          <a:bodyPr/>
          <a:lstStyle/>
          <a:p>
            <a:endParaRPr lang="en-US"/>
          </a:p>
        </p:txBody>
      </p:sp>
      <p:sp>
        <p:nvSpPr>
          <p:cNvPr id="4" name="Text 2"/>
          <p:cNvSpPr txBox="1"/>
          <p:nvPr/>
        </p:nvSpPr>
        <p:spPr>
          <a:xfrm>
            <a:off x="731520" y="1737360"/>
            <a:ext cx="2148840" cy="685800"/>
          </a:xfrm>
          <a:prstGeom prst="rect">
            <a:avLst/>
          </a:prstGeom>
          <a:noFill/>
          <a:ln/>
        </p:spPr>
        <p:txBody>
          <a:bodyPr wrap="square" lIns="0" tIns="0" rIns="0" bIns="0" rtlCol="0" anchor="t"/>
          <a:lstStyle/>
          <a:p>
            <a:pPr marL="0" indent="0">
              <a:buNone/>
            </a:pPr>
            <a:r>
              <a:rPr lang="en-US" sz="3200" b="1" dirty="0">
                <a:solidFill>
                  <a:schemeClr val="tx2"/>
                </a:solidFill>
                <a:latin typeface="Cambria" pitchFamily="34" charset="0"/>
                <a:ea typeface="Cambria" pitchFamily="34" charset="-122"/>
                <a:cs typeface="Cambria" pitchFamily="34" charset="-120"/>
              </a:rPr>
              <a:t>11,055</a:t>
            </a:r>
            <a:endParaRPr lang="en-US" sz="3200" dirty="0"/>
          </a:p>
        </p:txBody>
      </p:sp>
      <p:sp>
        <p:nvSpPr>
          <p:cNvPr id="5" name="Text 3"/>
          <p:cNvSpPr txBox="1"/>
          <p:nvPr/>
        </p:nvSpPr>
        <p:spPr>
          <a:xfrm>
            <a:off x="731520" y="2514600"/>
            <a:ext cx="2148840" cy="548640"/>
          </a:xfrm>
          <a:prstGeom prst="rect">
            <a:avLst/>
          </a:prstGeom>
          <a:noFill/>
          <a:ln/>
        </p:spPr>
        <p:txBody>
          <a:bodyPr wrap="square" lIns="0" tIns="0" rIns="0" bIns="0" rtlCol="0" anchor="t"/>
          <a:lstStyle/>
          <a:p>
            <a:pPr marL="0" indent="0">
              <a:buNone/>
            </a:pPr>
            <a:r>
              <a:rPr lang="en-US" sz="1500" b="1" dirty="0">
                <a:solidFill>
                  <a:schemeClr val="tx1"/>
                </a:solidFill>
              </a:rPr>
              <a:t>Original rows</a:t>
            </a:r>
            <a:endParaRPr lang="en-US" sz="1500" dirty="0"/>
          </a:p>
        </p:txBody>
      </p:sp>
      <p:sp>
        <p:nvSpPr>
          <p:cNvPr id="6" name="Text 4"/>
          <p:cNvSpPr txBox="1"/>
          <p:nvPr/>
        </p:nvSpPr>
        <p:spPr>
          <a:xfrm>
            <a:off x="731520" y="3063240"/>
            <a:ext cx="2148840" cy="548640"/>
          </a:xfrm>
          <a:prstGeom prst="rect">
            <a:avLst/>
          </a:prstGeom>
          <a:noFill/>
          <a:ln/>
        </p:spPr>
        <p:txBody>
          <a:bodyPr wrap="square" lIns="0" tIns="0" rIns="0" bIns="0" rtlCol="0" anchor="t"/>
          <a:lstStyle/>
          <a:p>
            <a:pPr marL="0" indent="0">
              <a:buNone/>
            </a:pPr>
            <a:r>
              <a:rPr lang="en-US" sz="1300" dirty="0">
                <a:solidFill>
                  <a:schemeClr val="accent6"/>
                </a:solidFill>
              </a:rPr>
              <a:t>44.3% phishing</a:t>
            </a:r>
            <a:endParaRPr lang="en-US" sz="1300" dirty="0"/>
          </a:p>
        </p:txBody>
      </p:sp>
      <p:sp>
        <p:nvSpPr>
          <p:cNvPr id="7" name="Shape 5"/>
          <p:cNvSpPr/>
          <p:nvPr/>
        </p:nvSpPr>
        <p:spPr>
          <a:xfrm>
            <a:off x="3108960" y="2514600"/>
            <a:ext cx="228600" cy="274320"/>
          </a:xfrm>
          <a:prstGeom prst="rightArrow">
            <a:avLst/>
          </a:prstGeom>
          <a:solidFill>
            <a:schemeClr val="accent6"/>
          </a:solidFill>
          <a:ln/>
        </p:spPr>
        <p:txBody>
          <a:bodyPr/>
          <a:lstStyle/>
          <a:p>
            <a:endParaRPr lang="en-US"/>
          </a:p>
        </p:txBody>
      </p:sp>
      <p:sp>
        <p:nvSpPr>
          <p:cNvPr id="8" name="step2"/>
          <p:cNvSpPr/>
          <p:nvPr/>
        </p:nvSpPr>
        <p:spPr>
          <a:xfrm>
            <a:off x="3383280" y="1554480"/>
            <a:ext cx="2514600" cy="2194560"/>
          </a:xfrm>
          <a:prstGeom prst="roundRect">
            <a:avLst>
              <a:gd name="adj" fmla="val 5000"/>
            </a:avLst>
          </a:prstGeom>
          <a:solidFill>
            <a:schemeClr val="bg2"/>
          </a:solidFill>
          <a:ln/>
        </p:spPr>
        <p:txBody>
          <a:bodyPr/>
          <a:lstStyle/>
          <a:p>
            <a:endParaRPr lang="en-US"/>
          </a:p>
        </p:txBody>
      </p:sp>
      <p:sp>
        <p:nvSpPr>
          <p:cNvPr id="9" name="Text 7"/>
          <p:cNvSpPr txBox="1"/>
          <p:nvPr/>
        </p:nvSpPr>
        <p:spPr>
          <a:xfrm>
            <a:off x="3566160" y="1737360"/>
            <a:ext cx="2148840" cy="685800"/>
          </a:xfrm>
          <a:prstGeom prst="rect">
            <a:avLst/>
          </a:prstGeom>
          <a:noFill/>
          <a:ln/>
        </p:spPr>
        <p:txBody>
          <a:bodyPr wrap="square" lIns="0" tIns="0" rIns="0" bIns="0" rtlCol="0" anchor="t"/>
          <a:lstStyle/>
          <a:p>
            <a:pPr marL="0" indent="0">
              <a:buNone/>
            </a:pPr>
            <a:r>
              <a:rPr lang="en-US" sz="3200" b="1" dirty="0">
                <a:solidFill>
                  <a:schemeClr val="tx2"/>
                </a:solidFill>
                <a:latin typeface="Cambria" pitchFamily="34" charset="0"/>
                <a:ea typeface="Cambria" pitchFamily="34" charset="-122"/>
                <a:cs typeface="Cambria" pitchFamily="34" charset="-120"/>
              </a:rPr>
              <a:t>5,849</a:t>
            </a:r>
            <a:endParaRPr lang="en-US" sz="3200" dirty="0"/>
          </a:p>
        </p:txBody>
      </p:sp>
      <p:sp>
        <p:nvSpPr>
          <p:cNvPr id="10" name="Text 8"/>
          <p:cNvSpPr txBox="1"/>
          <p:nvPr/>
        </p:nvSpPr>
        <p:spPr>
          <a:xfrm>
            <a:off x="3566160" y="2514600"/>
            <a:ext cx="2148840" cy="548640"/>
          </a:xfrm>
          <a:prstGeom prst="rect">
            <a:avLst/>
          </a:prstGeom>
          <a:noFill/>
          <a:ln/>
        </p:spPr>
        <p:txBody>
          <a:bodyPr wrap="square" lIns="0" tIns="0" rIns="0" bIns="0" rtlCol="0" anchor="t"/>
          <a:lstStyle/>
          <a:p>
            <a:pPr marL="0" indent="0">
              <a:buNone/>
            </a:pPr>
            <a:r>
              <a:rPr lang="en-US" sz="1500" b="1" dirty="0">
                <a:solidFill>
                  <a:schemeClr val="tx1"/>
                </a:solidFill>
              </a:rPr>
              <a:t>Exact duplicates removed</a:t>
            </a:r>
            <a:endParaRPr lang="en-US" sz="1500" dirty="0"/>
          </a:p>
        </p:txBody>
      </p:sp>
      <p:sp>
        <p:nvSpPr>
          <p:cNvPr id="11" name="Text 9"/>
          <p:cNvSpPr txBox="1"/>
          <p:nvPr/>
        </p:nvSpPr>
        <p:spPr>
          <a:xfrm>
            <a:off x="3566160" y="3063240"/>
            <a:ext cx="2148840" cy="548640"/>
          </a:xfrm>
          <a:prstGeom prst="rect">
            <a:avLst/>
          </a:prstGeom>
          <a:noFill/>
          <a:ln/>
        </p:spPr>
        <p:txBody>
          <a:bodyPr wrap="square" lIns="0" tIns="0" rIns="0" bIns="0" rtlCol="0" anchor="t"/>
          <a:lstStyle/>
          <a:p>
            <a:pPr marL="0" indent="0">
              <a:buNone/>
            </a:pPr>
            <a:r>
              <a:rPr lang="en-US" sz="1300" dirty="0">
                <a:solidFill>
                  <a:schemeClr val="accent6"/>
                </a:solidFill>
              </a:rPr>
              <a:t>5,206 copies dropped</a:t>
            </a:r>
            <a:endParaRPr lang="en-US" sz="1300" dirty="0"/>
          </a:p>
        </p:txBody>
      </p:sp>
      <p:sp>
        <p:nvSpPr>
          <p:cNvPr id="12" name="Shape 10"/>
          <p:cNvSpPr/>
          <p:nvPr/>
        </p:nvSpPr>
        <p:spPr>
          <a:xfrm>
            <a:off x="5943600" y="2514600"/>
            <a:ext cx="228600" cy="274320"/>
          </a:xfrm>
          <a:prstGeom prst="rightArrow">
            <a:avLst/>
          </a:prstGeom>
          <a:solidFill>
            <a:schemeClr val="accent6"/>
          </a:solidFill>
          <a:ln/>
        </p:spPr>
        <p:txBody>
          <a:bodyPr/>
          <a:lstStyle/>
          <a:p>
            <a:endParaRPr lang="en-US"/>
          </a:p>
        </p:txBody>
      </p:sp>
      <p:sp>
        <p:nvSpPr>
          <p:cNvPr id="13" name="step3"/>
          <p:cNvSpPr/>
          <p:nvPr/>
        </p:nvSpPr>
        <p:spPr>
          <a:xfrm>
            <a:off x="6217920" y="1554480"/>
            <a:ext cx="2514600" cy="2194560"/>
          </a:xfrm>
          <a:prstGeom prst="roundRect">
            <a:avLst>
              <a:gd name="adj" fmla="val 5000"/>
            </a:avLst>
          </a:prstGeom>
          <a:solidFill>
            <a:schemeClr val="bg2"/>
          </a:solidFill>
          <a:ln/>
        </p:spPr>
        <p:txBody>
          <a:bodyPr/>
          <a:lstStyle/>
          <a:p>
            <a:endParaRPr lang="en-US"/>
          </a:p>
        </p:txBody>
      </p:sp>
      <p:sp>
        <p:nvSpPr>
          <p:cNvPr id="14" name="Text 12"/>
          <p:cNvSpPr txBox="1"/>
          <p:nvPr/>
        </p:nvSpPr>
        <p:spPr>
          <a:xfrm>
            <a:off x="6400800" y="1737360"/>
            <a:ext cx="2148840" cy="685800"/>
          </a:xfrm>
          <a:prstGeom prst="rect">
            <a:avLst/>
          </a:prstGeom>
          <a:noFill/>
          <a:ln/>
        </p:spPr>
        <p:txBody>
          <a:bodyPr wrap="square" lIns="0" tIns="0" rIns="0" bIns="0" rtlCol="0" anchor="t"/>
          <a:lstStyle/>
          <a:p>
            <a:pPr marL="0" indent="0">
              <a:buNone/>
            </a:pPr>
            <a:r>
              <a:rPr lang="en-US" sz="3200" b="1" dirty="0">
                <a:solidFill>
                  <a:schemeClr val="tx2"/>
                </a:solidFill>
                <a:latin typeface="Cambria" pitchFamily="34" charset="0"/>
                <a:ea typeface="Cambria" pitchFamily="34" charset="-122"/>
                <a:cs typeface="Cambria" pitchFamily="34" charset="-120"/>
              </a:rPr>
              <a:t>5,721</a:t>
            </a:r>
            <a:endParaRPr lang="en-US" sz="3200" dirty="0"/>
          </a:p>
        </p:txBody>
      </p:sp>
      <p:sp>
        <p:nvSpPr>
          <p:cNvPr id="15" name="Text 13"/>
          <p:cNvSpPr txBox="1"/>
          <p:nvPr/>
        </p:nvSpPr>
        <p:spPr>
          <a:xfrm>
            <a:off x="6400800" y="2514600"/>
            <a:ext cx="2148840" cy="548640"/>
          </a:xfrm>
          <a:prstGeom prst="rect">
            <a:avLst/>
          </a:prstGeom>
          <a:noFill/>
          <a:ln/>
        </p:spPr>
        <p:txBody>
          <a:bodyPr wrap="square" lIns="0" tIns="0" rIns="0" bIns="0" rtlCol="0" anchor="t"/>
          <a:lstStyle/>
          <a:p>
            <a:pPr marL="0" indent="0">
              <a:buNone/>
            </a:pPr>
            <a:r>
              <a:rPr lang="en-US" sz="1500" b="1" dirty="0">
                <a:solidFill>
                  <a:schemeClr val="tx1"/>
                </a:solidFill>
              </a:rPr>
              <a:t>Conflicting labels removed</a:t>
            </a:r>
            <a:endParaRPr lang="en-US" sz="1500" dirty="0"/>
          </a:p>
        </p:txBody>
      </p:sp>
      <p:sp>
        <p:nvSpPr>
          <p:cNvPr id="16" name="Text 14"/>
          <p:cNvSpPr txBox="1"/>
          <p:nvPr/>
        </p:nvSpPr>
        <p:spPr>
          <a:xfrm>
            <a:off x="6400800" y="3063240"/>
            <a:ext cx="2148840" cy="548640"/>
          </a:xfrm>
          <a:prstGeom prst="rect">
            <a:avLst/>
          </a:prstGeom>
          <a:noFill/>
          <a:ln/>
        </p:spPr>
        <p:txBody>
          <a:bodyPr wrap="square" lIns="0" tIns="0" rIns="0" bIns="0" rtlCol="0" anchor="t"/>
          <a:lstStyle/>
          <a:p>
            <a:pPr marL="0" indent="0">
              <a:buNone/>
            </a:pPr>
            <a:r>
              <a:rPr lang="en-US" sz="1300" dirty="0">
                <a:solidFill>
                  <a:schemeClr val="accent6"/>
                </a:solidFill>
              </a:rPr>
              <a:t>64 feature patterns had both labels</a:t>
            </a:r>
            <a:endParaRPr lang="en-US" sz="1300" dirty="0"/>
          </a:p>
        </p:txBody>
      </p:sp>
      <p:sp>
        <p:nvSpPr>
          <p:cNvPr id="17" name="Shape 15"/>
          <p:cNvSpPr/>
          <p:nvPr/>
        </p:nvSpPr>
        <p:spPr>
          <a:xfrm>
            <a:off x="8778240" y="2514600"/>
            <a:ext cx="228600" cy="274320"/>
          </a:xfrm>
          <a:prstGeom prst="rightArrow">
            <a:avLst/>
          </a:prstGeom>
          <a:solidFill>
            <a:schemeClr val="accent6"/>
          </a:solidFill>
          <a:ln/>
        </p:spPr>
        <p:txBody>
          <a:bodyPr/>
          <a:lstStyle/>
          <a:p>
            <a:endParaRPr lang="en-US"/>
          </a:p>
        </p:txBody>
      </p:sp>
      <p:sp>
        <p:nvSpPr>
          <p:cNvPr id="18" name="step4"/>
          <p:cNvSpPr/>
          <p:nvPr/>
        </p:nvSpPr>
        <p:spPr>
          <a:xfrm>
            <a:off x="9052560" y="1554480"/>
            <a:ext cx="2514600" cy="2194560"/>
          </a:xfrm>
          <a:prstGeom prst="roundRect">
            <a:avLst>
              <a:gd name="adj" fmla="val 5000"/>
            </a:avLst>
          </a:prstGeom>
          <a:solidFill>
            <a:schemeClr val="tx2"/>
          </a:solidFill>
          <a:ln/>
        </p:spPr>
        <p:txBody>
          <a:bodyPr/>
          <a:lstStyle/>
          <a:p>
            <a:endParaRPr lang="en-US"/>
          </a:p>
        </p:txBody>
      </p:sp>
      <p:sp>
        <p:nvSpPr>
          <p:cNvPr id="19" name="Text 17"/>
          <p:cNvSpPr txBox="1"/>
          <p:nvPr/>
        </p:nvSpPr>
        <p:spPr>
          <a:xfrm>
            <a:off x="9235440" y="1737360"/>
            <a:ext cx="2148840" cy="68580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cs typeface="Cambria" pitchFamily="34" charset="-120"/>
              </a:rPr>
              <a:t>4,004 · 858 · 859</a:t>
            </a:r>
            <a:endParaRPr lang="en-US" sz="2400" dirty="0"/>
          </a:p>
        </p:txBody>
      </p:sp>
      <p:sp>
        <p:nvSpPr>
          <p:cNvPr id="20" name="Text 18"/>
          <p:cNvSpPr txBox="1"/>
          <p:nvPr/>
        </p:nvSpPr>
        <p:spPr>
          <a:xfrm>
            <a:off x="9235440" y="2514600"/>
            <a:ext cx="2148840" cy="548640"/>
          </a:xfrm>
          <a:prstGeom prst="rect">
            <a:avLst/>
          </a:prstGeom>
          <a:noFill/>
          <a:ln/>
        </p:spPr>
        <p:txBody>
          <a:bodyPr wrap="square" lIns="0" tIns="0" rIns="0" bIns="0" rtlCol="0" anchor="t"/>
          <a:lstStyle/>
          <a:p>
            <a:pPr marL="0" indent="0">
              <a:buNone/>
            </a:pPr>
            <a:r>
              <a:rPr lang="en-US" sz="1500" b="1" dirty="0">
                <a:solidFill>
                  <a:schemeClr val="bg1"/>
                </a:solidFill>
              </a:rPr>
              <a:t>Train · validation · test</a:t>
            </a:r>
            <a:endParaRPr lang="en-US" sz="1500" dirty="0"/>
          </a:p>
        </p:txBody>
      </p:sp>
      <p:sp>
        <p:nvSpPr>
          <p:cNvPr id="21" name="Text 19"/>
          <p:cNvSpPr txBox="1"/>
          <p:nvPr/>
        </p:nvSpPr>
        <p:spPr>
          <a:xfrm>
            <a:off x="9235440" y="3063240"/>
            <a:ext cx="2148840" cy="548640"/>
          </a:xfrm>
          <a:prstGeom prst="rect">
            <a:avLst/>
          </a:prstGeom>
          <a:noFill/>
          <a:ln/>
        </p:spPr>
        <p:txBody>
          <a:bodyPr wrap="square" lIns="0" tIns="0" rIns="0" bIns="0" rtlCol="0" anchor="t"/>
          <a:lstStyle/>
          <a:p>
            <a:pPr marL="0" indent="0">
              <a:buNone/>
            </a:pPr>
            <a:r>
              <a:rPr lang="en-US" sz="1300" dirty="0">
                <a:solidFill>
                  <a:srgbClr val="CADCEB"/>
                </a:solidFill>
              </a:rPr>
              <a:t>70/15/15, stratified, seed 42</a:t>
            </a:r>
            <a:endParaRPr lang="en-US" sz="1300" dirty="0"/>
          </a:p>
        </p:txBody>
      </p:sp>
      <p:sp>
        <p:nvSpPr>
          <p:cNvPr id="22" name="why"/>
          <p:cNvSpPr/>
          <p:nvPr/>
        </p:nvSpPr>
        <p:spPr>
          <a:xfrm>
            <a:off x="548640" y="4206240"/>
            <a:ext cx="11094415" cy="1737360"/>
          </a:xfrm>
          <a:prstGeom prst="roundRect">
            <a:avLst>
              <a:gd name="adj" fmla="val 6316"/>
            </a:avLst>
          </a:prstGeom>
          <a:solidFill>
            <a:srgbClr val="FBEDEF"/>
          </a:solidFill>
          <a:ln/>
        </p:spPr>
        <p:txBody>
          <a:bodyPr/>
          <a:lstStyle/>
          <a:p>
            <a:endParaRPr lang="en-US"/>
          </a:p>
        </p:txBody>
      </p:sp>
      <p:sp>
        <p:nvSpPr>
          <p:cNvPr id="23" name="Text 21"/>
          <p:cNvSpPr txBox="1"/>
          <p:nvPr/>
        </p:nvSpPr>
        <p:spPr>
          <a:xfrm>
            <a:off x="822960" y="4389120"/>
            <a:ext cx="10058400" cy="365760"/>
          </a:xfrm>
          <a:prstGeom prst="rect">
            <a:avLst/>
          </a:prstGeom>
          <a:noFill/>
          <a:ln/>
        </p:spPr>
        <p:txBody>
          <a:bodyPr wrap="square" lIns="0" tIns="0" rIns="0" bIns="0" rtlCol="0" anchor="t"/>
          <a:lstStyle/>
          <a:p>
            <a:pPr marL="0" indent="0">
              <a:buNone/>
            </a:pPr>
            <a:r>
              <a:rPr lang="en-US" sz="1800" b="1" dirty="0">
                <a:solidFill>
                  <a:schemeClr val="accent1"/>
                </a:solidFill>
              </a:rPr>
              <a:t>Why this matters</a:t>
            </a:r>
            <a:endParaRPr lang="en-US" sz="1800" dirty="0"/>
          </a:p>
        </p:txBody>
      </p:sp>
      <p:sp>
        <p:nvSpPr>
          <p:cNvPr id="24" name="Text 22"/>
          <p:cNvSpPr txBox="1"/>
          <p:nvPr/>
        </p:nvSpPr>
        <p:spPr>
          <a:xfrm>
            <a:off x="822960" y="4800600"/>
            <a:ext cx="10545775" cy="1005840"/>
          </a:xfrm>
          <a:prstGeom prst="rect">
            <a:avLst/>
          </a:prstGeom>
          <a:noFill/>
          <a:ln/>
        </p:spPr>
        <p:txBody>
          <a:bodyPr wrap="square" lIns="0" tIns="0" rIns="0" bIns="0" rtlCol="0" anchor="t"/>
          <a:lstStyle/>
          <a:p>
            <a:pPr marL="0" indent="0">
              <a:buNone/>
            </a:pPr>
            <a:r>
              <a:rPr lang="en-US" sz="1600" dirty="0">
                <a:solidFill>
                  <a:schemeClr val="tx1"/>
                </a:solidFill>
              </a:rPr>
              <a:t>Before cleaning, 63.6% of validation rows had an identical twin in the training data — a model could score well just by remembering them. Removing duplicates first means every test site is genuinely new. No label was guessed for the conflicting rows: they were removed.</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868680"/>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Two warning signs carry most of the signal</a:t>
            </a:r>
            <a:endParaRPr lang="en-US" sz="3000" dirty="0"/>
          </a:p>
        </p:txBody>
      </p:sp>
      <p:pic>
        <p:nvPicPr>
          <p:cNvPr id="3" name="Image 0" descr="Validation ROC-AUC of one-feature models"/>
          <p:cNvPicPr>
            <a:picLocks noChangeAspect="1"/>
          </p:cNvPicPr>
          <p:nvPr/>
        </p:nvPicPr>
        <p:blipFill>
          <a:blip r:embed="rId3"/>
          <a:stretch>
            <a:fillRect/>
          </a:stretch>
        </p:blipFill>
        <p:spPr>
          <a:xfrm>
            <a:off x="548640" y="1280160"/>
            <a:ext cx="5120640" cy="4745736"/>
          </a:xfrm>
          <a:prstGeom prst="rect">
            <a:avLst/>
          </a:prstGeom>
        </p:spPr>
      </p:pic>
      <p:sp>
        <p:nvSpPr>
          <p:cNvPr id="4" name="Text 1"/>
          <p:cNvSpPr txBox="1"/>
          <p:nvPr/>
        </p:nvSpPr>
        <p:spPr>
          <a:xfrm>
            <a:off x="6126480" y="1463040"/>
            <a:ext cx="5486400" cy="3291840"/>
          </a:xfrm>
          <a:prstGeom prst="rect">
            <a:avLst/>
          </a:prstGeom>
          <a:noFill/>
          <a:ln/>
        </p:spPr>
        <p:txBody>
          <a:bodyPr wrap="square" lIns="0" tIns="0" rIns="0" bIns="0" rtlCol="0" anchor="t"/>
          <a:lstStyle/>
          <a:p>
            <a:pPr marL="203200" indent="-203200">
              <a:spcAft>
                <a:spcPts val="800"/>
              </a:spcAft>
              <a:buSzPct val="100000"/>
              <a:buChar char="•"/>
            </a:pPr>
            <a:r>
              <a:rPr lang="en-US" sz="1800" b="1" dirty="0">
                <a:solidFill>
                  <a:schemeClr val="tx1"/>
                </a:solidFill>
              </a:rPr>
              <a:t>HTTPS certificate status </a:t>
            </a:r>
            <a:r>
              <a:rPr lang="en-US" sz="1800" dirty="0">
                <a:solidFill>
                  <a:schemeClr val="tx1"/>
                </a:solidFill>
              </a:rPr>
              <a:t>alone reaches ROC-AUC 0.898 on validation</a:t>
            </a:r>
            <a:endParaRPr lang="en-US" sz="1800" dirty="0"/>
          </a:p>
          <a:p>
            <a:pPr marL="203200" indent="-203200">
              <a:spcAft>
                <a:spcPts val="800"/>
              </a:spcAft>
              <a:buSzPct val="100000"/>
              <a:buChar char="•"/>
            </a:pPr>
            <a:r>
              <a:rPr lang="en-US" sz="1800" b="1" dirty="0">
                <a:solidFill>
                  <a:schemeClr val="tx1"/>
                </a:solidFill>
              </a:rPr>
              <a:t>Anchor links </a:t>
            </a:r>
            <a:r>
              <a:rPr lang="en-US" sz="1800" dirty="0">
                <a:solidFill>
                  <a:schemeClr val="tx1"/>
                </a:solidFill>
              </a:rPr>
              <a:t>to other sites or nowhere reach 0.858</a:t>
            </a:r>
            <a:endParaRPr lang="en-US" sz="1800" dirty="0"/>
          </a:p>
          <a:p>
            <a:pPr marL="203200" indent="-203200">
              <a:spcAft>
                <a:spcPts val="800"/>
              </a:spcAft>
              <a:buSzPct val="100000"/>
              <a:buChar char="•"/>
            </a:pPr>
            <a:r>
              <a:rPr lang="en-US" sz="1800" dirty="0">
                <a:solidFill>
                  <a:schemeClr val="tx1"/>
                </a:solidFill>
              </a:rPr>
              <a:t>Most other features are weak on their own (ROC-AUC close to 0.5–0.6)</a:t>
            </a:r>
            <a:endParaRPr lang="en-US" sz="1800" dirty="0"/>
          </a:p>
          <a:p>
            <a:pPr marL="203200" indent="-203200">
              <a:spcAft>
                <a:spcPts val="800"/>
              </a:spcAft>
              <a:buSzPct val="100000"/>
              <a:buChar char="•"/>
            </a:pPr>
            <a:r>
              <a:rPr lang="en-US" sz="1800" dirty="0">
                <a:solidFill>
                  <a:schemeClr val="tx1"/>
                </a:solidFill>
              </a:rPr>
              <a:t>Strong, but not suspiciously perfect — no feature copies the label</a:t>
            </a:r>
            <a:endParaRPr lang="en-US" sz="1800" dirty="0"/>
          </a:p>
        </p:txBody>
      </p:sp>
      <p:sp>
        <p:nvSpPr>
          <p:cNvPr id="5" name="note"/>
          <p:cNvSpPr/>
          <p:nvPr/>
        </p:nvSpPr>
        <p:spPr>
          <a:xfrm>
            <a:off x="6126480" y="4937760"/>
            <a:ext cx="5486400" cy="1051560"/>
          </a:xfrm>
          <a:prstGeom prst="roundRect">
            <a:avLst>
              <a:gd name="adj" fmla="val 10435"/>
            </a:avLst>
          </a:prstGeom>
          <a:solidFill>
            <a:schemeClr val="bg2"/>
          </a:solidFill>
          <a:ln/>
        </p:spPr>
        <p:txBody>
          <a:bodyPr/>
          <a:lstStyle/>
          <a:p>
            <a:endParaRPr lang="en-US"/>
          </a:p>
        </p:txBody>
      </p:sp>
      <p:sp>
        <p:nvSpPr>
          <p:cNvPr id="6" name="Text 3"/>
          <p:cNvSpPr txBox="1"/>
          <p:nvPr/>
        </p:nvSpPr>
        <p:spPr>
          <a:xfrm>
            <a:off x="6355080" y="5074920"/>
            <a:ext cx="5029200" cy="822960"/>
          </a:xfrm>
          <a:prstGeom prst="rect">
            <a:avLst/>
          </a:prstGeom>
          <a:noFill/>
          <a:ln/>
        </p:spPr>
        <p:txBody>
          <a:bodyPr wrap="square" lIns="0" tIns="0" rIns="0" bIns="0" rtlCol="0" anchor="t"/>
          <a:lstStyle/>
          <a:p>
            <a:pPr marL="0" indent="0">
              <a:buNone/>
            </a:pPr>
            <a:r>
              <a:rPr lang="en-US" sz="1400" dirty="0">
                <a:solidFill>
                  <a:schemeClr val="accent6"/>
                </a:solidFill>
              </a:rPr>
              <a:t>Each bar is a one-feature model fitted on training data and scored on validation, with a 95% bootstrap interval.</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868680"/>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Feature codes are not always ordered</a:t>
            </a:r>
            <a:endParaRPr lang="en-US" sz="3000" dirty="0"/>
          </a:p>
        </p:txBody>
      </p:sp>
      <p:pic>
        <p:nvPicPr>
          <p:cNvPr id="3" name="Image 0" descr="Phishing rate for each value of each feature"/>
          <p:cNvPicPr>
            <a:picLocks noChangeAspect="1"/>
          </p:cNvPicPr>
          <p:nvPr/>
        </p:nvPicPr>
        <p:blipFill>
          <a:blip r:embed="rId3"/>
          <a:stretch>
            <a:fillRect/>
          </a:stretch>
        </p:blipFill>
        <p:spPr>
          <a:xfrm>
            <a:off x="548640" y="1234440"/>
            <a:ext cx="4846320" cy="5029200"/>
          </a:xfrm>
          <a:prstGeom prst="rect">
            <a:avLst/>
          </a:prstGeom>
        </p:spPr>
      </p:pic>
      <p:sp>
        <p:nvSpPr>
          <p:cNvPr id="4" name="Text 1"/>
          <p:cNvSpPr txBox="1"/>
          <p:nvPr/>
        </p:nvSpPr>
        <p:spPr>
          <a:xfrm>
            <a:off x="5943600" y="1463040"/>
            <a:ext cx="5669280" cy="2743200"/>
          </a:xfrm>
          <a:prstGeom prst="rect">
            <a:avLst/>
          </a:prstGeom>
          <a:noFill/>
          <a:ln/>
        </p:spPr>
        <p:txBody>
          <a:bodyPr wrap="square" lIns="0" tIns="0" rIns="0" bIns="0" rtlCol="0" anchor="t"/>
          <a:lstStyle/>
          <a:p>
            <a:pPr marL="203200" indent="-203200">
              <a:spcAft>
                <a:spcPts val="800"/>
              </a:spcAft>
              <a:buSzPct val="100000"/>
              <a:buChar char="•"/>
            </a:pPr>
            <a:r>
              <a:rPr lang="en-US" sz="1800" b="1" dirty="0">
                <a:solidFill>
                  <a:schemeClr val="tx1"/>
                </a:solidFill>
              </a:rPr>
              <a:t>Certificate code 0 </a:t>
            </a:r>
            <a:r>
              <a:rPr lang="en-US" sz="1800" dirty="0">
                <a:solidFill>
                  <a:schemeClr val="tx1"/>
                </a:solidFill>
              </a:rPr>
              <a:t>(HTTPS, untrusted issuer) is 99.4% phishing — riskier than code −1 (88.9%)</a:t>
            </a:r>
            <a:endParaRPr lang="en-US" sz="1800" dirty="0"/>
          </a:p>
          <a:p>
            <a:pPr marL="203200" indent="-203200">
              <a:spcAft>
                <a:spcPts val="800"/>
              </a:spcAft>
              <a:buSzPct val="100000"/>
              <a:buChar char="•"/>
            </a:pPr>
            <a:r>
              <a:rPr lang="en-US" sz="1800" b="1" dirty="0">
                <a:solidFill>
                  <a:schemeClr val="tx1"/>
                </a:solidFill>
              </a:rPr>
              <a:t>Sub-domains and traffic rank </a:t>
            </a:r>
            <a:r>
              <a:rPr lang="en-US" sz="1800" dirty="0">
                <a:solidFill>
                  <a:schemeClr val="tx1"/>
                </a:solidFill>
              </a:rPr>
              <a:t>also break the −1 &lt; 0 &lt; 1 order</a:t>
            </a:r>
            <a:endParaRPr lang="en-US" sz="1800" dirty="0"/>
          </a:p>
          <a:p>
            <a:pPr marL="203200" indent="-203200">
              <a:spcAft>
                <a:spcPts val="800"/>
              </a:spcAft>
              <a:buSzPct val="100000"/>
              <a:buChar char="•"/>
            </a:pPr>
            <a:r>
              <a:rPr lang="en-US" sz="1800" b="1" dirty="0">
                <a:solidFill>
                  <a:schemeClr val="tx1"/>
                </a:solidFill>
              </a:rPr>
              <a:t>Dash in domain: </a:t>
            </a:r>
            <a:r>
              <a:rPr lang="en-US" sz="1800" dirty="0">
                <a:solidFill>
                  <a:schemeClr val="tx1"/>
                </a:solidFill>
              </a:rPr>
              <a:t>every phishing row has code −1</a:t>
            </a:r>
            <a:endParaRPr lang="en-US" sz="1800" dirty="0"/>
          </a:p>
        </p:txBody>
      </p:sp>
      <p:sp>
        <p:nvSpPr>
          <p:cNvPr id="5" name="consequence"/>
          <p:cNvSpPr/>
          <p:nvPr/>
        </p:nvSpPr>
        <p:spPr>
          <a:xfrm>
            <a:off x="5943600" y="4434840"/>
            <a:ext cx="5669280" cy="1554480"/>
          </a:xfrm>
          <a:prstGeom prst="roundRect">
            <a:avLst>
              <a:gd name="adj" fmla="val 7059"/>
            </a:avLst>
          </a:prstGeom>
          <a:solidFill>
            <a:srgbClr val="E6F2F4"/>
          </a:solidFill>
          <a:ln/>
        </p:spPr>
        <p:txBody>
          <a:bodyPr/>
          <a:lstStyle/>
          <a:p>
            <a:endParaRPr lang="en-US"/>
          </a:p>
        </p:txBody>
      </p:sp>
      <p:sp>
        <p:nvSpPr>
          <p:cNvPr id="6" name="Text 3"/>
          <p:cNvSpPr txBox="1"/>
          <p:nvPr/>
        </p:nvSpPr>
        <p:spPr>
          <a:xfrm>
            <a:off x="6172200" y="4572000"/>
            <a:ext cx="5303520" cy="365760"/>
          </a:xfrm>
          <a:prstGeom prst="rect">
            <a:avLst/>
          </a:prstGeom>
          <a:noFill/>
          <a:ln/>
        </p:spPr>
        <p:txBody>
          <a:bodyPr wrap="square" lIns="0" tIns="0" rIns="0" bIns="0" rtlCol="0" anchor="t"/>
          <a:lstStyle/>
          <a:p>
            <a:pPr marL="0" indent="0">
              <a:buNone/>
            </a:pPr>
            <a:r>
              <a:rPr lang="en-US" sz="1700" b="1" dirty="0">
                <a:solidFill>
                  <a:schemeClr val="accent4"/>
                </a:solidFill>
              </a:rPr>
              <a:t>Consequence for the models</a:t>
            </a:r>
            <a:endParaRPr lang="en-US" sz="1700" dirty="0"/>
          </a:p>
        </p:txBody>
      </p:sp>
      <p:sp>
        <p:nvSpPr>
          <p:cNvPr id="7" name="Text 4"/>
          <p:cNvSpPr txBox="1"/>
          <p:nvPr/>
        </p:nvSpPr>
        <p:spPr>
          <a:xfrm>
            <a:off x="6172200" y="4956048"/>
            <a:ext cx="5303520" cy="914400"/>
          </a:xfrm>
          <a:prstGeom prst="rect">
            <a:avLst/>
          </a:prstGeom>
          <a:noFill/>
          <a:ln/>
        </p:spPr>
        <p:txBody>
          <a:bodyPr wrap="square" lIns="0" tIns="0" rIns="0" bIns="0" rtlCol="0" anchor="t"/>
          <a:lstStyle/>
          <a:p>
            <a:pPr marL="0" indent="0">
              <a:buNone/>
            </a:pPr>
            <a:r>
              <a:rPr lang="en-US" sz="1500" dirty="0">
                <a:solidFill>
                  <a:schemeClr val="tx1"/>
                </a:solidFill>
              </a:rPr>
              <a:t>A linear model cannot treat −1, 0, 1 as evenly spaced, so Logistic Regression uses one-hot encoding (30 → 38 inputs) so each code gets its own weight.</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868680"/>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Preprocessing and a leakage-safe pipeline</a:t>
            </a:r>
            <a:endParaRPr lang="en-US" sz="3000" dirty="0"/>
          </a:p>
        </p:txBody>
      </p:sp>
      <p:sp>
        <p:nvSpPr>
          <p:cNvPr id="3" name="Shape 1"/>
          <p:cNvSpPr/>
          <p:nvPr/>
        </p:nvSpPr>
        <p:spPr>
          <a:xfrm>
            <a:off x="1280160" y="1554480"/>
            <a:ext cx="640080" cy="640080"/>
          </a:xfrm>
          <a:prstGeom prst="ellipse">
            <a:avLst/>
          </a:prstGeom>
          <a:solidFill>
            <a:schemeClr val="tx2"/>
          </a:solidFill>
          <a:ln/>
        </p:spPr>
        <p:txBody>
          <a:bodyPr/>
          <a:lstStyle/>
          <a:p>
            <a:endParaRPr lang="en-US"/>
          </a:p>
        </p:txBody>
      </p:sp>
      <p:sp>
        <p:nvSpPr>
          <p:cNvPr id="4" name="Text 2"/>
          <p:cNvSpPr txBox="1"/>
          <p:nvPr/>
        </p:nvSpPr>
        <p:spPr>
          <a:xfrm>
            <a:off x="1280160" y="1554480"/>
            <a:ext cx="640080" cy="64008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Shape 3"/>
          <p:cNvSpPr/>
          <p:nvPr/>
        </p:nvSpPr>
        <p:spPr>
          <a:xfrm>
            <a:off x="2011680" y="1874520"/>
            <a:ext cx="1417320" cy="0"/>
          </a:xfrm>
          <a:prstGeom prst="line">
            <a:avLst/>
          </a:prstGeom>
          <a:noFill/>
          <a:ln w="19050">
            <a:solidFill>
              <a:schemeClr val="accent6"/>
            </a:solidFill>
            <a:prstDash val="solid"/>
          </a:ln>
        </p:spPr>
        <p:txBody>
          <a:bodyPr/>
          <a:lstStyle/>
          <a:p>
            <a:endParaRPr lang="en-US"/>
          </a:p>
        </p:txBody>
      </p:sp>
      <p:sp>
        <p:nvSpPr>
          <p:cNvPr id="6" name="Text 4"/>
          <p:cNvSpPr txBox="1"/>
          <p:nvPr/>
        </p:nvSpPr>
        <p:spPr>
          <a:xfrm>
            <a:off x="548640" y="2377440"/>
            <a:ext cx="2103120" cy="411480"/>
          </a:xfrm>
          <a:prstGeom prst="rect">
            <a:avLst/>
          </a:prstGeom>
          <a:noFill/>
          <a:ln/>
        </p:spPr>
        <p:txBody>
          <a:bodyPr wrap="square" lIns="0" tIns="0" rIns="0" bIns="0" rtlCol="0" anchor="t"/>
          <a:lstStyle/>
          <a:p>
            <a:pPr marL="0" indent="0" algn="ctr">
              <a:buNone/>
            </a:pPr>
            <a:r>
              <a:rPr lang="en-US" sz="1800" b="1" dirty="0">
                <a:solidFill>
                  <a:schemeClr val="tx2"/>
                </a:solidFill>
              </a:rPr>
              <a:t>Map labels</a:t>
            </a:r>
            <a:endParaRPr lang="en-US" sz="1800" dirty="0"/>
          </a:p>
        </p:txBody>
      </p:sp>
      <p:sp>
        <p:nvSpPr>
          <p:cNvPr id="7" name="Text 5"/>
          <p:cNvSpPr txBox="1"/>
          <p:nvPr/>
        </p:nvSpPr>
        <p:spPr>
          <a:xfrm>
            <a:off x="548640" y="2834640"/>
            <a:ext cx="2103120" cy="1005840"/>
          </a:xfrm>
          <a:prstGeom prst="rect">
            <a:avLst/>
          </a:prstGeom>
          <a:noFill/>
          <a:ln/>
        </p:spPr>
        <p:txBody>
          <a:bodyPr wrap="square" lIns="0" tIns="0" rIns="0" bIns="0" rtlCol="0" anchor="t"/>
          <a:lstStyle/>
          <a:p>
            <a:pPr marL="0" indent="0" algn="ctr">
              <a:buNone/>
            </a:pPr>
            <a:r>
              <a:rPr lang="en-US" sz="1400" dirty="0">
                <a:solidFill>
                  <a:schemeClr val="tx1"/>
                </a:solidFill>
              </a:rPr>
              <a:t>−1 → phishing (1), +1 → legitimate (0)</a:t>
            </a:r>
            <a:endParaRPr lang="en-US" sz="1400" dirty="0"/>
          </a:p>
        </p:txBody>
      </p:sp>
      <p:sp>
        <p:nvSpPr>
          <p:cNvPr id="8" name="Shape 6"/>
          <p:cNvSpPr/>
          <p:nvPr/>
        </p:nvSpPr>
        <p:spPr>
          <a:xfrm>
            <a:off x="3520440" y="1554480"/>
            <a:ext cx="640080" cy="640080"/>
          </a:xfrm>
          <a:prstGeom prst="ellipse">
            <a:avLst/>
          </a:prstGeom>
          <a:solidFill>
            <a:schemeClr val="tx2"/>
          </a:solidFill>
          <a:ln/>
        </p:spPr>
        <p:txBody>
          <a:bodyPr/>
          <a:lstStyle/>
          <a:p>
            <a:endParaRPr lang="en-US"/>
          </a:p>
        </p:txBody>
      </p:sp>
      <p:sp>
        <p:nvSpPr>
          <p:cNvPr id="9" name="Text 7"/>
          <p:cNvSpPr txBox="1"/>
          <p:nvPr/>
        </p:nvSpPr>
        <p:spPr>
          <a:xfrm>
            <a:off x="3520440" y="1554480"/>
            <a:ext cx="640080" cy="64008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Shape 8"/>
          <p:cNvSpPr/>
          <p:nvPr/>
        </p:nvSpPr>
        <p:spPr>
          <a:xfrm>
            <a:off x="4251960" y="1874520"/>
            <a:ext cx="1417320" cy="0"/>
          </a:xfrm>
          <a:prstGeom prst="line">
            <a:avLst/>
          </a:prstGeom>
          <a:noFill/>
          <a:ln w="19050">
            <a:solidFill>
              <a:schemeClr val="accent6"/>
            </a:solidFill>
            <a:prstDash val="solid"/>
          </a:ln>
        </p:spPr>
        <p:txBody>
          <a:bodyPr/>
          <a:lstStyle/>
          <a:p>
            <a:endParaRPr lang="en-US"/>
          </a:p>
        </p:txBody>
      </p:sp>
      <p:sp>
        <p:nvSpPr>
          <p:cNvPr id="11" name="Text 9"/>
          <p:cNvSpPr txBox="1"/>
          <p:nvPr/>
        </p:nvSpPr>
        <p:spPr>
          <a:xfrm>
            <a:off x="2788920" y="2377440"/>
            <a:ext cx="2103120" cy="411480"/>
          </a:xfrm>
          <a:prstGeom prst="rect">
            <a:avLst/>
          </a:prstGeom>
          <a:noFill/>
          <a:ln/>
        </p:spPr>
        <p:txBody>
          <a:bodyPr wrap="square" lIns="0" tIns="0" rIns="0" bIns="0" rtlCol="0" anchor="t"/>
          <a:lstStyle/>
          <a:p>
            <a:pPr marL="0" indent="0" algn="ctr">
              <a:buNone/>
            </a:pPr>
            <a:r>
              <a:rPr lang="en-US" sz="1800" b="1" dirty="0">
                <a:solidFill>
                  <a:schemeClr val="tx2"/>
                </a:solidFill>
              </a:rPr>
              <a:t>Encode</a:t>
            </a:r>
            <a:endParaRPr lang="en-US" sz="1800" dirty="0"/>
          </a:p>
        </p:txBody>
      </p:sp>
      <p:sp>
        <p:nvSpPr>
          <p:cNvPr id="12" name="Text 10"/>
          <p:cNvSpPr txBox="1"/>
          <p:nvPr/>
        </p:nvSpPr>
        <p:spPr>
          <a:xfrm>
            <a:off x="2788920" y="2834640"/>
            <a:ext cx="2103120" cy="1005840"/>
          </a:xfrm>
          <a:prstGeom prst="rect">
            <a:avLst/>
          </a:prstGeom>
          <a:noFill/>
          <a:ln/>
        </p:spPr>
        <p:txBody>
          <a:bodyPr wrap="square" lIns="0" tIns="0" rIns="0" bIns="0" rtlCol="0" anchor="t"/>
          <a:lstStyle/>
          <a:p>
            <a:pPr marL="0" indent="0" algn="ctr">
              <a:buNone/>
            </a:pPr>
            <a:r>
              <a:rPr lang="en-US" sz="1400" dirty="0">
                <a:solidFill>
                  <a:schemeClr val="tx1"/>
                </a:solidFill>
              </a:rPr>
              <a:t>One-hot: 30 features become 38 inputs</a:t>
            </a:r>
            <a:endParaRPr lang="en-US" sz="1400" dirty="0"/>
          </a:p>
        </p:txBody>
      </p:sp>
      <p:sp>
        <p:nvSpPr>
          <p:cNvPr id="13" name="Shape 11"/>
          <p:cNvSpPr/>
          <p:nvPr/>
        </p:nvSpPr>
        <p:spPr>
          <a:xfrm>
            <a:off x="5760720" y="1554480"/>
            <a:ext cx="640080" cy="640080"/>
          </a:xfrm>
          <a:prstGeom prst="ellipse">
            <a:avLst/>
          </a:prstGeom>
          <a:solidFill>
            <a:schemeClr val="tx2"/>
          </a:solidFill>
          <a:ln/>
        </p:spPr>
        <p:txBody>
          <a:bodyPr/>
          <a:lstStyle/>
          <a:p>
            <a:endParaRPr lang="en-US"/>
          </a:p>
        </p:txBody>
      </p:sp>
      <p:sp>
        <p:nvSpPr>
          <p:cNvPr id="14" name="Text 12"/>
          <p:cNvSpPr txBox="1"/>
          <p:nvPr/>
        </p:nvSpPr>
        <p:spPr>
          <a:xfrm>
            <a:off x="5760720" y="1554480"/>
            <a:ext cx="640080" cy="64008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Shape 13"/>
          <p:cNvSpPr/>
          <p:nvPr/>
        </p:nvSpPr>
        <p:spPr>
          <a:xfrm>
            <a:off x="6492240" y="1874520"/>
            <a:ext cx="1417320" cy="0"/>
          </a:xfrm>
          <a:prstGeom prst="line">
            <a:avLst/>
          </a:prstGeom>
          <a:noFill/>
          <a:ln w="19050">
            <a:solidFill>
              <a:schemeClr val="accent6"/>
            </a:solidFill>
            <a:prstDash val="solid"/>
          </a:ln>
        </p:spPr>
        <p:txBody>
          <a:bodyPr/>
          <a:lstStyle/>
          <a:p>
            <a:endParaRPr lang="en-US"/>
          </a:p>
        </p:txBody>
      </p:sp>
      <p:sp>
        <p:nvSpPr>
          <p:cNvPr id="16" name="Text 14"/>
          <p:cNvSpPr txBox="1"/>
          <p:nvPr/>
        </p:nvSpPr>
        <p:spPr>
          <a:xfrm>
            <a:off x="5029200" y="2377440"/>
            <a:ext cx="2103120" cy="411480"/>
          </a:xfrm>
          <a:prstGeom prst="rect">
            <a:avLst/>
          </a:prstGeom>
          <a:noFill/>
          <a:ln/>
        </p:spPr>
        <p:txBody>
          <a:bodyPr wrap="square" lIns="0" tIns="0" rIns="0" bIns="0" rtlCol="0" anchor="t"/>
          <a:lstStyle/>
          <a:p>
            <a:pPr marL="0" indent="0" algn="ctr">
              <a:buNone/>
            </a:pPr>
            <a:r>
              <a:rPr lang="en-US" sz="1800" b="1" dirty="0">
                <a:solidFill>
                  <a:schemeClr val="tx2"/>
                </a:solidFill>
              </a:rPr>
              <a:t>Split</a:t>
            </a:r>
            <a:endParaRPr lang="en-US" sz="1800" dirty="0"/>
          </a:p>
        </p:txBody>
      </p:sp>
      <p:sp>
        <p:nvSpPr>
          <p:cNvPr id="17" name="Text 15"/>
          <p:cNvSpPr txBox="1"/>
          <p:nvPr/>
        </p:nvSpPr>
        <p:spPr>
          <a:xfrm>
            <a:off x="5029200" y="2834640"/>
            <a:ext cx="2103120" cy="1005840"/>
          </a:xfrm>
          <a:prstGeom prst="rect">
            <a:avLst/>
          </a:prstGeom>
          <a:noFill/>
          <a:ln/>
        </p:spPr>
        <p:txBody>
          <a:bodyPr wrap="square" lIns="0" tIns="0" rIns="0" bIns="0" rtlCol="0" anchor="t"/>
          <a:lstStyle/>
          <a:p>
            <a:pPr marL="0" indent="0" algn="ctr">
              <a:buNone/>
            </a:pPr>
            <a:r>
              <a:rPr lang="en-US" sz="1400" dirty="0">
                <a:solidFill>
                  <a:schemeClr val="tx1"/>
                </a:solidFill>
              </a:rPr>
              <a:t>70 / 15 / 15, stratified, after cleaning</a:t>
            </a:r>
            <a:endParaRPr lang="en-US" sz="1400" dirty="0"/>
          </a:p>
        </p:txBody>
      </p:sp>
      <p:sp>
        <p:nvSpPr>
          <p:cNvPr id="18" name="Shape 16"/>
          <p:cNvSpPr/>
          <p:nvPr/>
        </p:nvSpPr>
        <p:spPr>
          <a:xfrm>
            <a:off x="8001000" y="1554480"/>
            <a:ext cx="640080" cy="640080"/>
          </a:xfrm>
          <a:prstGeom prst="ellipse">
            <a:avLst/>
          </a:prstGeom>
          <a:solidFill>
            <a:schemeClr val="tx2"/>
          </a:solidFill>
          <a:ln/>
        </p:spPr>
        <p:txBody>
          <a:bodyPr/>
          <a:lstStyle/>
          <a:p>
            <a:endParaRPr lang="en-US"/>
          </a:p>
        </p:txBody>
      </p:sp>
      <p:sp>
        <p:nvSpPr>
          <p:cNvPr id="19" name="Text 17"/>
          <p:cNvSpPr txBox="1"/>
          <p:nvPr/>
        </p:nvSpPr>
        <p:spPr>
          <a:xfrm>
            <a:off x="8001000" y="1554480"/>
            <a:ext cx="640080" cy="64008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0" name="Shape 18"/>
          <p:cNvSpPr/>
          <p:nvPr/>
        </p:nvSpPr>
        <p:spPr>
          <a:xfrm>
            <a:off x="8732520" y="1874520"/>
            <a:ext cx="1417320" cy="0"/>
          </a:xfrm>
          <a:prstGeom prst="line">
            <a:avLst/>
          </a:prstGeom>
          <a:noFill/>
          <a:ln w="19050">
            <a:solidFill>
              <a:schemeClr val="accent6"/>
            </a:solidFill>
            <a:prstDash val="solid"/>
          </a:ln>
        </p:spPr>
        <p:txBody>
          <a:bodyPr/>
          <a:lstStyle/>
          <a:p>
            <a:endParaRPr lang="en-US"/>
          </a:p>
        </p:txBody>
      </p:sp>
      <p:sp>
        <p:nvSpPr>
          <p:cNvPr id="21" name="Text 19"/>
          <p:cNvSpPr txBox="1"/>
          <p:nvPr/>
        </p:nvSpPr>
        <p:spPr>
          <a:xfrm>
            <a:off x="7269480" y="2377440"/>
            <a:ext cx="2103120" cy="411480"/>
          </a:xfrm>
          <a:prstGeom prst="rect">
            <a:avLst/>
          </a:prstGeom>
          <a:noFill/>
          <a:ln/>
        </p:spPr>
        <p:txBody>
          <a:bodyPr wrap="square" lIns="0" tIns="0" rIns="0" bIns="0" rtlCol="0" anchor="t"/>
          <a:lstStyle/>
          <a:p>
            <a:pPr marL="0" indent="0" algn="ctr">
              <a:buNone/>
            </a:pPr>
            <a:r>
              <a:rPr lang="en-US" sz="1800" b="1" dirty="0">
                <a:solidFill>
                  <a:schemeClr val="tx2"/>
                </a:solidFill>
              </a:rPr>
              <a:t>Tune</a:t>
            </a:r>
            <a:endParaRPr lang="en-US" sz="1800" dirty="0"/>
          </a:p>
        </p:txBody>
      </p:sp>
      <p:sp>
        <p:nvSpPr>
          <p:cNvPr id="22" name="Text 20"/>
          <p:cNvSpPr txBox="1"/>
          <p:nvPr/>
        </p:nvSpPr>
        <p:spPr>
          <a:xfrm>
            <a:off x="7269480" y="2834640"/>
            <a:ext cx="2103120" cy="1005840"/>
          </a:xfrm>
          <a:prstGeom prst="rect">
            <a:avLst/>
          </a:prstGeom>
          <a:noFill/>
          <a:ln/>
        </p:spPr>
        <p:txBody>
          <a:bodyPr wrap="square" lIns="0" tIns="0" rIns="0" bIns="0" rtlCol="0" anchor="t"/>
          <a:lstStyle/>
          <a:p>
            <a:pPr marL="0" indent="0" algn="ctr">
              <a:buNone/>
            </a:pPr>
            <a:r>
              <a:rPr lang="en-US" sz="1400" dirty="0">
                <a:solidFill>
                  <a:schemeClr val="tx1"/>
                </a:solidFill>
              </a:rPr>
              <a:t>Grids scored by validation log-loss; thresholds by validation F1</a:t>
            </a:r>
            <a:endParaRPr lang="en-US" sz="1400" dirty="0"/>
          </a:p>
        </p:txBody>
      </p:sp>
      <p:sp>
        <p:nvSpPr>
          <p:cNvPr id="23" name="Shape 21"/>
          <p:cNvSpPr/>
          <p:nvPr/>
        </p:nvSpPr>
        <p:spPr>
          <a:xfrm>
            <a:off x="10241280" y="1554480"/>
            <a:ext cx="640080" cy="640080"/>
          </a:xfrm>
          <a:prstGeom prst="ellipse">
            <a:avLst/>
          </a:prstGeom>
          <a:solidFill>
            <a:schemeClr val="accent1"/>
          </a:solidFill>
          <a:ln/>
        </p:spPr>
        <p:txBody>
          <a:bodyPr/>
          <a:lstStyle/>
          <a:p>
            <a:endParaRPr lang="en-US"/>
          </a:p>
        </p:txBody>
      </p:sp>
      <p:sp>
        <p:nvSpPr>
          <p:cNvPr id="24" name="Text 22"/>
          <p:cNvSpPr txBox="1"/>
          <p:nvPr/>
        </p:nvSpPr>
        <p:spPr>
          <a:xfrm>
            <a:off x="10241280" y="1554480"/>
            <a:ext cx="640080" cy="64008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5" name="Text 23"/>
          <p:cNvSpPr txBox="1"/>
          <p:nvPr/>
        </p:nvSpPr>
        <p:spPr>
          <a:xfrm>
            <a:off x="9509760" y="2377440"/>
            <a:ext cx="2103120" cy="411480"/>
          </a:xfrm>
          <a:prstGeom prst="rect">
            <a:avLst/>
          </a:prstGeom>
          <a:noFill/>
          <a:ln/>
        </p:spPr>
        <p:txBody>
          <a:bodyPr wrap="square" lIns="0" tIns="0" rIns="0" bIns="0" rtlCol="0" anchor="t"/>
          <a:lstStyle/>
          <a:p>
            <a:pPr marL="0" indent="0" algn="ctr">
              <a:buNone/>
            </a:pPr>
            <a:r>
              <a:rPr lang="en-US" sz="1800" b="1" dirty="0">
                <a:solidFill>
                  <a:schemeClr val="tx2"/>
                </a:solidFill>
              </a:rPr>
              <a:t>Test once</a:t>
            </a:r>
            <a:endParaRPr lang="en-US" sz="1800" dirty="0"/>
          </a:p>
        </p:txBody>
      </p:sp>
      <p:sp>
        <p:nvSpPr>
          <p:cNvPr id="26" name="Text 24"/>
          <p:cNvSpPr txBox="1"/>
          <p:nvPr/>
        </p:nvSpPr>
        <p:spPr>
          <a:xfrm>
            <a:off x="9509760" y="2834640"/>
            <a:ext cx="2103120" cy="1005840"/>
          </a:xfrm>
          <a:prstGeom prst="rect">
            <a:avLst/>
          </a:prstGeom>
          <a:noFill/>
          <a:ln/>
        </p:spPr>
        <p:txBody>
          <a:bodyPr wrap="square" lIns="0" tIns="0" rIns="0" bIns="0" rtlCol="0" anchor="t"/>
          <a:lstStyle/>
          <a:p>
            <a:pPr marL="0" indent="0" algn="ctr">
              <a:buNone/>
            </a:pPr>
            <a:r>
              <a:rPr lang="en-US" sz="1400" dirty="0">
                <a:solidFill>
                  <a:schemeClr val="tx1"/>
                </a:solidFill>
              </a:rPr>
              <a:t>Frozen models, 95% bootstrap intervals</a:t>
            </a:r>
            <a:endParaRPr lang="en-US" sz="1400" dirty="0"/>
          </a:p>
        </p:txBody>
      </p:sp>
      <p:sp>
        <p:nvSpPr>
          <p:cNvPr id="27" name="rules"/>
          <p:cNvSpPr/>
          <p:nvPr/>
        </p:nvSpPr>
        <p:spPr>
          <a:xfrm>
            <a:off x="548640" y="4206240"/>
            <a:ext cx="11094415" cy="1783080"/>
          </a:xfrm>
          <a:prstGeom prst="roundRect">
            <a:avLst>
              <a:gd name="adj" fmla="val 6154"/>
            </a:avLst>
          </a:prstGeom>
          <a:solidFill>
            <a:schemeClr val="bg2"/>
          </a:solidFill>
          <a:ln/>
        </p:spPr>
        <p:txBody>
          <a:bodyPr/>
          <a:lstStyle/>
          <a:p>
            <a:endParaRPr lang="en-US"/>
          </a:p>
        </p:txBody>
      </p:sp>
      <p:sp>
        <p:nvSpPr>
          <p:cNvPr id="28" name="Text 26"/>
          <p:cNvSpPr txBox="1"/>
          <p:nvPr/>
        </p:nvSpPr>
        <p:spPr>
          <a:xfrm>
            <a:off x="822960" y="4389120"/>
            <a:ext cx="10545775" cy="1463040"/>
          </a:xfrm>
          <a:prstGeom prst="rect">
            <a:avLst/>
          </a:prstGeom>
          <a:noFill/>
          <a:ln/>
        </p:spPr>
        <p:txBody>
          <a:bodyPr wrap="square" lIns="0" tIns="0" rIns="0" bIns="0" rtlCol="0" anchor="t"/>
          <a:lstStyle/>
          <a:p>
            <a:pPr marL="203200" indent="-203200">
              <a:spcAft>
                <a:spcPts val="800"/>
              </a:spcAft>
              <a:buSzPct val="100000"/>
              <a:buChar char="•"/>
            </a:pPr>
            <a:r>
              <a:rPr lang="en-US" sz="1600" b="1" dirty="0">
                <a:solidFill>
                  <a:schemeClr val="tx1"/>
                </a:solidFill>
              </a:rPr>
              <a:t>No scaling needed: </a:t>
            </a:r>
            <a:r>
              <a:rPr lang="en-US" sz="1600" dirty="0">
                <a:solidFill>
                  <a:schemeClr val="tx1"/>
                </a:solidFill>
              </a:rPr>
              <a:t>every feature is already −1, 0 or 1, and one-hot inputs are 0 or 1</a:t>
            </a:r>
            <a:endParaRPr lang="en-US" sz="1600" dirty="0"/>
          </a:p>
          <a:p>
            <a:pPr marL="203200" indent="-203200">
              <a:spcAft>
                <a:spcPts val="800"/>
              </a:spcAft>
              <a:buSzPct val="100000"/>
              <a:buChar char="•"/>
            </a:pPr>
            <a:r>
              <a:rPr lang="en-US" sz="1600" b="1" dirty="0">
                <a:solidFill>
                  <a:schemeClr val="tx1"/>
                </a:solidFill>
              </a:rPr>
              <a:t>No missing values </a:t>
            </a:r>
            <a:r>
              <a:rPr lang="en-US" sz="1600" dirty="0">
                <a:solidFill>
                  <a:schemeClr val="tx1"/>
                </a:solidFill>
              </a:rPr>
              <a:t>to fill — but every app input is still validated against the allowed codes</a:t>
            </a:r>
            <a:endParaRPr lang="en-US" sz="1600" dirty="0"/>
          </a:p>
          <a:p>
            <a:pPr marL="203200" indent="-203200">
              <a:spcAft>
                <a:spcPts val="800"/>
              </a:spcAft>
              <a:buSzPct val="100000"/>
              <a:buChar char="•"/>
            </a:pPr>
            <a:r>
              <a:rPr lang="en-US" sz="1600" b="1" dirty="0">
                <a:solidFill>
                  <a:schemeClr val="tx1"/>
                </a:solidFill>
              </a:rPr>
              <a:t>Test labels are never used </a:t>
            </a:r>
            <a:r>
              <a:rPr lang="en-US" sz="1600" dirty="0">
                <a:solidFill>
                  <a:schemeClr val="tx1"/>
                </a:solidFill>
              </a:rPr>
              <a:t>for feature selection, encoding, tuning or thresholds</a:t>
            </a:r>
            <a:endParaRPr lang="en-US" sz="1600" dirty="0"/>
          </a:p>
        </p:txBody>
      </p:sp>
      <p:sp>
        <p:nvSpPr>
          <p:cNvPr id="29"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868680"/>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Logistic Regression built from scratch in NumPy</a:t>
            </a:r>
            <a:endParaRPr lang="en-US" sz="3000" dirty="0"/>
          </a:p>
        </p:txBody>
      </p:sp>
      <p:sp>
        <p:nvSpPr>
          <p:cNvPr id="3" name="part1"/>
          <p:cNvSpPr/>
          <p:nvPr/>
        </p:nvSpPr>
        <p:spPr>
          <a:xfrm>
            <a:off x="548640" y="1417320"/>
            <a:ext cx="3520440" cy="3840480"/>
          </a:xfrm>
          <a:prstGeom prst="roundRect">
            <a:avLst>
              <a:gd name="adj" fmla="val 3117"/>
            </a:avLst>
          </a:prstGeom>
          <a:solidFill>
            <a:schemeClr val="bg2"/>
          </a:solidFill>
          <a:ln/>
        </p:spPr>
        <p:txBody>
          <a:bodyPr/>
          <a:lstStyle/>
          <a:p>
            <a:endParaRPr lang="en-US"/>
          </a:p>
        </p:txBody>
      </p:sp>
      <p:sp>
        <p:nvSpPr>
          <p:cNvPr id="4" name="Shape 2"/>
          <p:cNvSpPr/>
          <p:nvPr/>
        </p:nvSpPr>
        <p:spPr>
          <a:xfrm>
            <a:off x="822960" y="1645920"/>
            <a:ext cx="502920" cy="502920"/>
          </a:xfrm>
          <a:prstGeom prst="ellipse">
            <a:avLst/>
          </a:prstGeom>
          <a:solidFill>
            <a:schemeClr val="accent4"/>
          </a:solidFill>
          <a:ln/>
        </p:spPr>
        <p:txBody>
          <a:bodyPr/>
          <a:lstStyle/>
          <a:p>
            <a:endParaRPr lang="en-US"/>
          </a:p>
        </p:txBody>
      </p:sp>
      <p:sp>
        <p:nvSpPr>
          <p:cNvPr id="5" name="Text 3"/>
          <p:cNvSpPr txBox="1"/>
          <p:nvPr/>
        </p:nvSpPr>
        <p:spPr>
          <a:xfrm>
            <a:off x="822960" y="164592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1463040" y="1664208"/>
            <a:ext cx="2468880" cy="457200"/>
          </a:xfrm>
          <a:prstGeom prst="rect">
            <a:avLst/>
          </a:prstGeom>
          <a:noFill/>
          <a:ln/>
        </p:spPr>
        <p:txBody>
          <a:bodyPr wrap="square" lIns="0" tIns="0" rIns="0" bIns="0" rtlCol="0" anchor="ctr"/>
          <a:lstStyle/>
          <a:p>
            <a:pPr marL="0" indent="0">
              <a:buNone/>
            </a:pPr>
            <a:r>
              <a:rPr lang="en-US" sz="2000" b="1" dirty="0">
                <a:solidFill>
                  <a:schemeClr val="tx2"/>
                </a:solidFill>
              </a:rPr>
              <a:t>Model and loss</a:t>
            </a:r>
            <a:endParaRPr lang="en-US" sz="2000" dirty="0"/>
          </a:p>
        </p:txBody>
      </p:sp>
      <p:sp>
        <p:nvSpPr>
          <p:cNvPr id="7" name="Text 5"/>
          <p:cNvSpPr txBox="1"/>
          <p:nvPr/>
        </p:nvSpPr>
        <p:spPr>
          <a:xfrm>
            <a:off x="822960" y="2423160"/>
            <a:ext cx="301752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p = σ(w·x + b), stable sigmoid</a:t>
            </a:r>
            <a:endParaRPr lang="en-US" sz="1500" dirty="0"/>
          </a:p>
          <a:p>
            <a:pPr marL="203200" indent="-203200">
              <a:spcAft>
                <a:spcPts val="800"/>
              </a:spcAft>
              <a:buSzPct val="100000"/>
              <a:buChar char="•"/>
            </a:pPr>
            <a:r>
              <a:rPr lang="en-US" sz="1500" dirty="0">
                <a:solidFill>
                  <a:schemeClr val="tx1"/>
                </a:solidFill>
              </a:rPr>
              <a:t>Binary cross-entropy, never log(0)</a:t>
            </a:r>
            <a:endParaRPr lang="en-US" sz="1500" dirty="0"/>
          </a:p>
          <a:p>
            <a:pPr marL="203200" indent="-203200">
              <a:spcAft>
                <a:spcPts val="800"/>
              </a:spcAft>
              <a:buSzPct val="100000"/>
              <a:buChar char="•"/>
            </a:pPr>
            <a:r>
              <a:rPr lang="en-US" sz="1500" dirty="0">
                <a:solidFill>
                  <a:schemeClr val="tx1"/>
                </a:solidFill>
              </a:rPr>
              <a:t>L2 penalty (λ/2)‖w‖², bias not penalised</a:t>
            </a:r>
            <a:endParaRPr lang="en-US" sz="1500" dirty="0"/>
          </a:p>
          <a:p>
            <a:pPr marL="203200" indent="-203200">
              <a:spcAft>
                <a:spcPts val="800"/>
              </a:spcAft>
              <a:buSzPct val="100000"/>
              <a:buChar char="•"/>
            </a:pPr>
            <a:r>
              <a:rPr lang="en-US" sz="1500" dirty="0">
                <a:solidFill>
                  <a:schemeClr val="tx1"/>
                </a:solidFill>
              </a:rPr>
              <a:t>∇w = Xᵀ(p − y)/n + λw</a:t>
            </a:r>
            <a:endParaRPr lang="en-US" sz="1500" dirty="0"/>
          </a:p>
        </p:txBody>
      </p:sp>
      <p:sp>
        <p:nvSpPr>
          <p:cNvPr id="8" name="part2"/>
          <p:cNvSpPr/>
          <p:nvPr/>
        </p:nvSpPr>
        <p:spPr>
          <a:xfrm>
            <a:off x="4297680" y="1417320"/>
            <a:ext cx="3520440" cy="3840480"/>
          </a:xfrm>
          <a:prstGeom prst="roundRect">
            <a:avLst>
              <a:gd name="adj" fmla="val 3117"/>
            </a:avLst>
          </a:prstGeom>
          <a:solidFill>
            <a:schemeClr val="bg2"/>
          </a:solidFill>
          <a:ln/>
        </p:spPr>
        <p:txBody>
          <a:bodyPr/>
          <a:lstStyle/>
          <a:p>
            <a:endParaRPr lang="en-US"/>
          </a:p>
        </p:txBody>
      </p:sp>
      <p:sp>
        <p:nvSpPr>
          <p:cNvPr id="9" name="Shape 7"/>
          <p:cNvSpPr/>
          <p:nvPr/>
        </p:nvSpPr>
        <p:spPr>
          <a:xfrm>
            <a:off x="4572000" y="1645920"/>
            <a:ext cx="502920" cy="502920"/>
          </a:xfrm>
          <a:prstGeom prst="ellipse">
            <a:avLst/>
          </a:prstGeom>
          <a:solidFill>
            <a:schemeClr val="accent5"/>
          </a:solidFill>
          <a:ln/>
        </p:spPr>
        <p:txBody>
          <a:bodyPr/>
          <a:lstStyle/>
          <a:p>
            <a:endParaRPr lang="en-US"/>
          </a:p>
        </p:txBody>
      </p:sp>
      <p:sp>
        <p:nvSpPr>
          <p:cNvPr id="10" name="Text 8"/>
          <p:cNvSpPr txBox="1"/>
          <p:nvPr/>
        </p:nvSpPr>
        <p:spPr>
          <a:xfrm>
            <a:off x="4572000" y="164592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9"/>
          <p:cNvSpPr txBox="1"/>
          <p:nvPr/>
        </p:nvSpPr>
        <p:spPr>
          <a:xfrm>
            <a:off x="5212080" y="1664208"/>
            <a:ext cx="2468880" cy="457200"/>
          </a:xfrm>
          <a:prstGeom prst="rect">
            <a:avLst/>
          </a:prstGeom>
          <a:noFill/>
          <a:ln/>
        </p:spPr>
        <p:txBody>
          <a:bodyPr wrap="square" lIns="0" tIns="0" rIns="0" bIns="0" rtlCol="0" anchor="ctr"/>
          <a:lstStyle/>
          <a:p>
            <a:pPr marL="0" indent="0">
              <a:buNone/>
            </a:pPr>
            <a:r>
              <a:rPr lang="en-US" sz="2000" b="1" dirty="0">
                <a:solidFill>
                  <a:schemeClr val="tx2"/>
                </a:solidFill>
              </a:rPr>
              <a:t>Training</a:t>
            </a:r>
            <a:endParaRPr lang="en-US" sz="2000" dirty="0"/>
          </a:p>
        </p:txBody>
      </p:sp>
      <p:sp>
        <p:nvSpPr>
          <p:cNvPr id="12" name="Text 10"/>
          <p:cNvSpPr txBox="1"/>
          <p:nvPr/>
        </p:nvSpPr>
        <p:spPr>
          <a:xfrm>
            <a:off x="4572000" y="2423160"/>
            <a:ext cx="301752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Batch gradient descent from zero</a:t>
            </a:r>
            <a:endParaRPr lang="en-US" sz="1500" dirty="0"/>
          </a:p>
          <a:p>
            <a:pPr marL="203200" indent="-203200">
              <a:spcAft>
                <a:spcPts val="800"/>
              </a:spcAft>
              <a:buSzPct val="100000"/>
              <a:buChar char="•"/>
            </a:pPr>
            <a:r>
              <a:rPr lang="en-US" sz="1500" dirty="0">
                <a:solidFill>
                  <a:schemeClr val="tx1"/>
                </a:solidFill>
              </a:rPr>
              <a:t>Selected: one-hot, λ = 1e-4, 27,079 iterations</a:t>
            </a:r>
            <a:endParaRPr lang="en-US" sz="1500" dirty="0"/>
          </a:p>
        </p:txBody>
      </p:sp>
      <p:sp>
        <p:nvSpPr>
          <p:cNvPr id="13" name="part3"/>
          <p:cNvSpPr/>
          <p:nvPr/>
        </p:nvSpPr>
        <p:spPr>
          <a:xfrm>
            <a:off x="8046720" y="1417320"/>
            <a:ext cx="3520440" cy="3840480"/>
          </a:xfrm>
          <a:prstGeom prst="roundRect">
            <a:avLst>
              <a:gd name="adj" fmla="val 3117"/>
            </a:avLst>
          </a:prstGeom>
          <a:solidFill>
            <a:schemeClr val="bg2"/>
          </a:solidFill>
          <a:ln/>
        </p:spPr>
        <p:txBody>
          <a:bodyPr/>
          <a:lstStyle/>
          <a:p>
            <a:endParaRPr lang="en-US"/>
          </a:p>
        </p:txBody>
      </p:sp>
      <p:sp>
        <p:nvSpPr>
          <p:cNvPr id="14" name="Shape 12"/>
          <p:cNvSpPr/>
          <p:nvPr/>
        </p:nvSpPr>
        <p:spPr>
          <a:xfrm>
            <a:off x="8321040" y="1645920"/>
            <a:ext cx="502920" cy="502920"/>
          </a:xfrm>
          <a:prstGeom prst="ellipse">
            <a:avLst/>
          </a:prstGeom>
          <a:solidFill>
            <a:schemeClr val="accent1"/>
          </a:solidFill>
          <a:ln/>
        </p:spPr>
        <p:txBody>
          <a:bodyPr/>
          <a:lstStyle/>
          <a:p>
            <a:endParaRPr lang="en-US"/>
          </a:p>
        </p:txBody>
      </p:sp>
      <p:sp>
        <p:nvSpPr>
          <p:cNvPr id="15" name="Text 13"/>
          <p:cNvSpPr txBox="1"/>
          <p:nvPr/>
        </p:nvSpPr>
        <p:spPr>
          <a:xfrm>
            <a:off x="8321040" y="164592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4"/>
          <p:cNvSpPr txBox="1"/>
          <p:nvPr/>
        </p:nvSpPr>
        <p:spPr>
          <a:xfrm>
            <a:off x="8961120" y="1664208"/>
            <a:ext cx="2468880" cy="457200"/>
          </a:xfrm>
          <a:prstGeom prst="rect">
            <a:avLst/>
          </a:prstGeom>
          <a:noFill/>
          <a:ln/>
        </p:spPr>
        <p:txBody>
          <a:bodyPr wrap="square" lIns="0" tIns="0" rIns="0" bIns="0" rtlCol="0" anchor="ctr"/>
          <a:lstStyle/>
          <a:p>
            <a:pPr marL="0" indent="0">
              <a:buNone/>
            </a:pPr>
            <a:r>
              <a:rPr lang="en-US" sz="2000" b="1" dirty="0">
                <a:solidFill>
                  <a:schemeClr val="tx2"/>
                </a:solidFill>
              </a:rPr>
              <a:t>Verification</a:t>
            </a:r>
            <a:endParaRPr lang="en-US" sz="2000" dirty="0"/>
          </a:p>
        </p:txBody>
      </p:sp>
      <p:sp>
        <p:nvSpPr>
          <p:cNvPr id="17" name="Text 15"/>
          <p:cNvSpPr txBox="1"/>
          <p:nvPr/>
        </p:nvSpPr>
        <p:spPr>
          <a:xfrm>
            <a:off x="8321040" y="2423160"/>
            <a:ext cx="301752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Gradient matches finite differences</a:t>
            </a:r>
            <a:endParaRPr lang="en-US" sz="1500" dirty="0"/>
          </a:p>
          <a:p>
            <a:pPr marL="203200" indent="-203200">
              <a:spcAft>
                <a:spcPts val="800"/>
              </a:spcAft>
              <a:buSzPct val="100000"/>
              <a:buChar char="•"/>
            </a:pPr>
            <a:r>
              <a:rPr lang="en-US" sz="1500" dirty="0">
                <a:solidFill>
                  <a:schemeClr val="tx1"/>
                </a:solidFill>
              </a:rPr>
              <a:t>Probabilities within 0.016 of scikit-learn</a:t>
            </a:r>
            <a:endParaRPr lang="en-US" sz="1500" dirty="0"/>
          </a:p>
          <a:p>
            <a:pPr marL="203200" indent="-203200">
              <a:spcAft>
                <a:spcPts val="800"/>
              </a:spcAft>
              <a:buSzPct val="100000"/>
              <a:buChar char="•"/>
            </a:pPr>
            <a:r>
              <a:rPr lang="en-US" sz="1500" dirty="0">
                <a:solidFill>
                  <a:schemeClr val="tx1"/>
                </a:solidFill>
              </a:rPr>
              <a:t>Identical test F1 to the reference</a:t>
            </a:r>
            <a:endParaRPr lang="en-US" sz="1500" dirty="0"/>
          </a:p>
          <a:p>
            <a:pPr marL="203200" indent="-203200">
              <a:spcAft>
                <a:spcPts val="800"/>
              </a:spcAft>
              <a:buSzPct val="100000"/>
              <a:buChar char="•"/>
            </a:pPr>
            <a:r>
              <a:rPr lang="en-US" sz="1500" dirty="0">
                <a:solidFill>
                  <a:schemeClr val="tx1"/>
                </a:solidFill>
              </a:rPr>
              <a:t>Save → load gives identical outputs</a:t>
            </a:r>
            <a:endParaRPr lang="en-US" sz="1500" dirty="0"/>
          </a:p>
        </p:txBody>
      </p:sp>
      <p:sp>
        <p:nvSpPr>
          <p:cNvPr id="18" name="Text 16"/>
          <p:cNvSpPr txBox="1"/>
          <p:nvPr/>
        </p:nvSpPr>
        <p:spPr>
          <a:xfrm>
            <a:off x="548640" y="5532120"/>
            <a:ext cx="11094415" cy="320040"/>
          </a:xfrm>
          <a:prstGeom prst="rect">
            <a:avLst/>
          </a:prstGeom>
          <a:noFill/>
          <a:ln/>
        </p:spPr>
        <p:txBody>
          <a:bodyPr wrap="square" lIns="0" tIns="0" rIns="0" bIns="0" rtlCol="0" anchor="t"/>
          <a:lstStyle/>
          <a:p>
            <a:pPr marL="0" indent="0">
              <a:buNone/>
            </a:pPr>
            <a:r>
              <a:rPr lang="en-US" sz="1400" i="1" dirty="0">
                <a:solidFill>
                  <a:schemeClr val="accent6"/>
                </a:solidFill>
              </a:rPr>
              <a:t>scikit-learn is used only for splitting, metrics and a separate reference model — never inside our model.</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868680"/>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Logistic Regression clearly beats the baselines on the test set</a:t>
            </a:r>
            <a:endParaRPr lang="en-US" sz="3000" dirty="0"/>
          </a:p>
        </p:txBody>
      </p:sp>
      <p:graphicFrame>
        <p:nvGraphicFramePr>
          <p:cNvPr id="3" name="Chart 0"/>
          <p:cNvGraphicFramePr/>
          <p:nvPr/>
        </p:nvGraphicFramePr>
        <p:xfrm>
          <a:off x="548640" y="1280160"/>
          <a:ext cx="694944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955280" y="1463040"/>
            <a:ext cx="3657600" cy="77724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0.937</a:t>
            </a:r>
            <a:endParaRPr lang="en-US" sz="4000" dirty="0"/>
          </a:p>
        </p:txBody>
      </p:sp>
      <p:sp>
        <p:nvSpPr>
          <p:cNvPr id="5" name="Text 2"/>
          <p:cNvSpPr txBox="1"/>
          <p:nvPr/>
        </p:nvSpPr>
        <p:spPr>
          <a:xfrm>
            <a:off x="7955280" y="2240280"/>
            <a:ext cx="3657600" cy="640080"/>
          </a:xfrm>
          <a:prstGeom prst="rect">
            <a:avLst/>
          </a:prstGeom>
          <a:noFill/>
          <a:ln/>
        </p:spPr>
        <p:txBody>
          <a:bodyPr wrap="square" lIns="0" tIns="0" rIns="0" bIns="0" rtlCol="0" anchor="t"/>
          <a:lstStyle/>
          <a:p>
            <a:pPr marL="0" indent="0">
              <a:buNone/>
            </a:pPr>
            <a:r>
              <a:rPr lang="en-US" sz="1400" dirty="0">
                <a:solidFill>
                  <a:schemeClr val="accent6"/>
                </a:solidFill>
              </a:rPr>
              <a:t>test F1 [0.920, 0.952]; ROC-AUC 0.988</a:t>
            </a:r>
            <a:endParaRPr lang="en-US" sz="1400" dirty="0"/>
          </a:p>
        </p:txBody>
      </p:sp>
      <p:sp>
        <p:nvSpPr>
          <p:cNvPr id="6" name="Text 3"/>
          <p:cNvSpPr txBox="1"/>
          <p:nvPr/>
        </p:nvSpPr>
        <p:spPr>
          <a:xfrm>
            <a:off x="7955280" y="2971800"/>
            <a:ext cx="3657600" cy="777240"/>
          </a:xfrm>
          <a:prstGeom prst="rect">
            <a:avLst/>
          </a:prstGeom>
          <a:noFill/>
          <a:ln/>
        </p:spPr>
        <p:txBody>
          <a:bodyPr wrap="square" lIns="0" tIns="0" rIns="0" bIns="0" rtlCol="0" anchor="t"/>
          <a:lstStyle/>
          <a:p>
            <a:pPr marL="0" indent="0">
              <a:buNone/>
            </a:pPr>
            <a:r>
              <a:rPr lang="en-US" sz="4000" b="1" dirty="0">
                <a:solidFill>
                  <a:schemeClr val="tx2"/>
                </a:solidFill>
                <a:latin typeface="Cambria" pitchFamily="34" charset="0"/>
                <a:ea typeface="Cambria" pitchFamily="34" charset="-122"/>
                <a:cs typeface="Cambria" pitchFamily="34" charset="-120"/>
              </a:rPr>
              <a:t>+0.050</a:t>
            </a:r>
            <a:endParaRPr lang="en-US" sz="4000" dirty="0"/>
          </a:p>
        </p:txBody>
      </p:sp>
      <p:sp>
        <p:nvSpPr>
          <p:cNvPr id="7" name="Text 4"/>
          <p:cNvSpPr txBox="1"/>
          <p:nvPr/>
        </p:nvSpPr>
        <p:spPr>
          <a:xfrm>
            <a:off x="7955280" y="3749040"/>
            <a:ext cx="3657600" cy="640080"/>
          </a:xfrm>
          <a:prstGeom prst="rect">
            <a:avLst/>
          </a:prstGeom>
          <a:noFill/>
          <a:ln/>
        </p:spPr>
        <p:txBody>
          <a:bodyPr wrap="square" lIns="0" tIns="0" rIns="0" bIns="0" rtlCol="0" anchor="t"/>
          <a:lstStyle/>
          <a:p>
            <a:pPr marL="0" indent="0">
              <a:buNone/>
            </a:pPr>
            <a:r>
              <a:rPr lang="en-US" sz="1400" dirty="0">
                <a:solidFill>
                  <a:schemeClr val="accent6"/>
                </a:solidFill>
              </a:rPr>
              <a:t>F1 gain over the best single feature [+0.029, +0.070] — a clear improvement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868680"/>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Ranking quality and the errors each model makes</a:t>
            </a:r>
            <a:endParaRPr lang="en-US" sz="3000" dirty="0"/>
          </a:p>
        </p:txBody>
      </p:sp>
      <p:pic>
        <p:nvPicPr>
          <p:cNvPr id="3" name="Image 0" descr="ROC and precision-recall curves on the test set"/>
          <p:cNvPicPr>
            <a:picLocks noChangeAspect="1"/>
          </p:cNvPicPr>
          <p:nvPr/>
        </p:nvPicPr>
        <p:blipFill>
          <a:blip r:embed="rId3"/>
          <a:stretch>
            <a:fillRect/>
          </a:stretch>
        </p:blipFill>
        <p:spPr>
          <a:xfrm>
            <a:off x="548640" y="1280160"/>
            <a:ext cx="6949440" cy="2880360"/>
          </a:xfrm>
          <a:prstGeom prst="rect">
            <a:avLst/>
          </a:prstGeom>
        </p:spPr>
      </p:pic>
      <p:pic>
        <p:nvPicPr>
          <p:cNvPr id="4" name="Image 1" descr="Confusion matrices on the test set"/>
          <p:cNvPicPr>
            <a:picLocks noChangeAspect="1"/>
          </p:cNvPicPr>
          <p:nvPr/>
        </p:nvPicPr>
        <p:blipFill>
          <a:blip r:embed="rId4"/>
          <a:stretch>
            <a:fillRect/>
          </a:stretch>
        </p:blipFill>
        <p:spPr>
          <a:xfrm>
            <a:off x="7680960" y="1280160"/>
            <a:ext cx="3959352" cy="2139696"/>
          </a:xfrm>
          <a:prstGeom prst="rect">
            <a:avLst/>
          </a:prstGeom>
        </p:spPr>
      </p:pic>
      <p:sp>
        <p:nvSpPr>
          <p:cNvPr id="5" name="errors"/>
          <p:cNvSpPr/>
          <p:nvPr/>
        </p:nvSpPr>
        <p:spPr>
          <a:xfrm>
            <a:off x="7680960" y="3657600"/>
            <a:ext cx="3959352" cy="2331720"/>
          </a:xfrm>
          <a:prstGeom prst="roundRect">
            <a:avLst>
              <a:gd name="adj" fmla="val 4706"/>
            </a:avLst>
          </a:prstGeom>
          <a:solidFill>
            <a:schemeClr val="bg2"/>
          </a:solidFill>
          <a:ln/>
        </p:spPr>
        <p:txBody>
          <a:bodyPr/>
          <a:lstStyle/>
          <a:p>
            <a:endParaRPr lang="en-US"/>
          </a:p>
        </p:txBody>
      </p:sp>
      <p:sp>
        <p:nvSpPr>
          <p:cNvPr id="6" name="Text 2"/>
          <p:cNvSpPr txBox="1"/>
          <p:nvPr/>
        </p:nvSpPr>
        <p:spPr>
          <a:xfrm>
            <a:off x="7909560" y="3886200"/>
            <a:ext cx="3566160" cy="201168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chemeClr val="tx1"/>
                </a:solidFill>
              </a:rPr>
              <a:t>425 of 444 </a:t>
            </a:r>
            <a:r>
              <a:rPr lang="en-US" sz="1500" dirty="0">
                <a:solidFill>
                  <a:schemeClr val="tx1"/>
                </a:solidFill>
              </a:rPr>
              <a:t>phishing sites caught (recall 0.957)</a:t>
            </a:r>
            <a:endParaRPr lang="en-US" sz="1500" dirty="0"/>
          </a:p>
          <a:p>
            <a:pPr marL="203200" indent="-203200">
              <a:spcAft>
                <a:spcPts val="800"/>
              </a:spcAft>
              <a:buSzPct val="100000"/>
              <a:buChar char="•"/>
            </a:pPr>
            <a:r>
              <a:rPr lang="en-US" sz="1500" b="1" dirty="0">
                <a:solidFill>
                  <a:schemeClr val="tx1"/>
                </a:solidFill>
              </a:rPr>
              <a:t>38 false alarms </a:t>
            </a:r>
            <a:r>
              <a:rPr lang="en-US" sz="1500" dirty="0">
                <a:solidFill>
                  <a:schemeClr val="tx1"/>
                </a:solidFill>
              </a:rPr>
              <a:t>among 415 legitimate sites</a:t>
            </a:r>
            <a:endParaRPr lang="en-US" sz="1500" dirty="0"/>
          </a:p>
          <a:p>
            <a:pPr marL="203200" indent="-203200">
              <a:spcAft>
                <a:spcPts val="800"/>
              </a:spcAft>
              <a:buSzPct val="100000"/>
              <a:buChar char="•"/>
            </a:pPr>
            <a:r>
              <a:rPr lang="en-US" sz="1500" b="1" dirty="0">
                <a:solidFill>
                  <a:schemeClr val="tx1"/>
                </a:solidFill>
              </a:rPr>
              <a:t>19 phishing sites </a:t>
            </a:r>
            <a:r>
              <a:rPr lang="en-US" sz="1500" dirty="0">
                <a:solidFill>
                  <a:schemeClr val="tx1"/>
                </a:solidFill>
              </a:rPr>
              <a:t>missed</a:t>
            </a:r>
            <a:endParaRPr lang="en-US" sz="1500" dirty="0"/>
          </a:p>
        </p:txBody>
      </p:sp>
      <p:sp>
        <p:nvSpPr>
          <p:cNvPr id="7" name="Text 3"/>
          <p:cNvSpPr txBox="1"/>
          <p:nvPr/>
        </p:nvSpPr>
        <p:spPr>
          <a:xfrm>
            <a:off x="548640" y="4297680"/>
            <a:ext cx="6949440" cy="365760"/>
          </a:xfrm>
          <a:prstGeom prst="rect">
            <a:avLst/>
          </a:prstGeom>
          <a:noFill/>
          <a:ln/>
        </p:spPr>
        <p:txBody>
          <a:bodyPr wrap="square" lIns="0" tIns="0" rIns="0" bIns="0" rtlCol="0" anchor="t"/>
          <a:lstStyle/>
          <a:p>
            <a:pPr marL="0" indent="0">
              <a:buNone/>
            </a:pPr>
            <a:r>
              <a:rPr lang="en-US" sz="1300" dirty="0">
                <a:solidFill>
                  <a:schemeClr val="accent6"/>
                </a:solidFill>
              </a:rPr>
              <a:t>Logistic Regression vs scikit-learn reference vs best single feature</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868680"/>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The selected model is well fitted; two settings under-fit</a:t>
            </a:r>
            <a:endParaRPr lang="en-US" sz="3000" dirty="0"/>
          </a:p>
        </p:txBody>
      </p:sp>
      <p:pic>
        <p:nvPicPr>
          <p:cNvPr id="3" name="Image 0" descr="Train and validation log-loss across L2 strength for both encodings"/>
          <p:cNvPicPr>
            <a:picLocks noChangeAspect="1"/>
          </p:cNvPicPr>
          <p:nvPr/>
        </p:nvPicPr>
        <p:blipFill>
          <a:blip r:embed="rId3"/>
          <a:stretch>
            <a:fillRect/>
          </a:stretch>
        </p:blipFill>
        <p:spPr>
          <a:xfrm>
            <a:off x="548640" y="1280160"/>
            <a:ext cx="6766560" cy="3813048"/>
          </a:xfrm>
          <a:prstGeom prst="rect">
            <a:avLst/>
          </a:prstGeom>
        </p:spPr>
      </p:pic>
      <p:sp>
        <p:nvSpPr>
          <p:cNvPr id="4" name="Text 1"/>
          <p:cNvSpPr txBox="1"/>
          <p:nvPr/>
        </p:nvSpPr>
        <p:spPr>
          <a:xfrm>
            <a:off x="548640" y="5212080"/>
            <a:ext cx="6766560" cy="320040"/>
          </a:xfrm>
          <a:prstGeom prst="rect">
            <a:avLst/>
          </a:prstGeom>
          <a:noFill/>
          <a:ln/>
        </p:spPr>
        <p:txBody>
          <a:bodyPr wrap="square" lIns="0" tIns="0" rIns="0" bIns="0" rtlCol="0" anchor="t"/>
          <a:lstStyle/>
          <a:p>
            <a:pPr marL="0" indent="0">
              <a:buNone/>
            </a:pPr>
            <a:r>
              <a:rPr lang="en-US" sz="1200" dirty="0">
                <a:solidFill>
                  <a:schemeClr val="accent6"/>
                </a:solidFill>
              </a:rPr>
              <a:t>Lower is better. Dashed = training, solid = validation.</a:t>
            </a:r>
            <a:endParaRPr lang="en-US" sz="1200" dirty="0"/>
          </a:p>
        </p:txBody>
      </p:sp>
      <p:sp>
        <p:nvSpPr>
          <p:cNvPr id="5" name="diag1"/>
          <p:cNvSpPr/>
          <p:nvPr/>
        </p:nvSpPr>
        <p:spPr>
          <a:xfrm>
            <a:off x="7589520" y="1325880"/>
            <a:ext cx="4050792" cy="1417320"/>
          </a:xfrm>
          <a:prstGeom prst="roundRect">
            <a:avLst>
              <a:gd name="adj" fmla="val 7742"/>
            </a:avLst>
          </a:prstGeom>
          <a:solidFill>
            <a:schemeClr val="bg2"/>
          </a:solidFill>
          <a:ln/>
        </p:spPr>
        <p:txBody>
          <a:bodyPr/>
          <a:lstStyle/>
          <a:p>
            <a:endParaRPr lang="en-US"/>
          </a:p>
        </p:txBody>
      </p:sp>
      <p:sp>
        <p:nvSpPr>
          <p:cNvPr id="6" name="Text 3"/>
          <p:cNvSpPr txBox="1"/>
          <p:nvPr/>
        </p:nvSpPr>
        <p:spPr>
          <a:xfrm>
            <a:off x="7772400" y="1463040"/>
            <a:ext cx="2377440" cy="640080"/>
          </a:xfrm>
          <a:prstGeom prst="rect">
            <a:avLst/>
          </a:prstGeom>
          <a:noFill/>
          <a:ln/>
        </p:spPr>
        <p:txBody>
          <a:bodyPr wrap="square" lIns="0" tIns="0" rIns="0" bIns="0" rtlCol="0" anchor="t"/>
          <a:lstStyle/>
          <a:p>
            <a:pPr marL="0" indent="0">
              <a:buNone/>
            </a:pPr>
            <a:r>
              <a:rPr lang="en-US" sz="1600" b="1" dirty="0">
                <a:solidFill>
                  <a:schemeClr val="tx2"/>
                </a:solidFill>
              </a:rPr>
              <a:t>Selected: one-hot, λ = 1e-4</a:t>
            </a:r>
            <a:endParaRPr lang="en-US" sz="1600" dirty="0"/>
          </a:p>
        </p:txBody>
      </p:sp>
      <p:sp>
        <p:nvSpPr>
          <p:cNvPr id="7" name="Shape 4"/>
          <p:cNvSpPr/>
          <p:nvPr/>
        </p:nvSpPr>
        <p:spPr>
          <a:xfrm>
            <a:off x="10149840" y="1481328"/>
            <a:ext cx="1325880" cy="329184"/>
          </a:xfrm>
          <a:prstGeom prst="roundRect">
            <a:avLst>
              <a:gd name="adj" fmla="val 22222"/>
            </a:avLst>
          </a:prstGeom>
          <a:solidFill>
            <a:schemeClr val="accent2"/>
          </a:solidFill>
          <a:ln/>
        </p:spPr>
        <p:txBody>
          <a:bodyPr/>
          <a:lstStyle/>
          <a:p>
            <a:endParaRPr lang="en-US"/>
          </a:p>
        </p:txBody>
      </p:sp>
      <p:sp>
        <p:nvSpPr>
          <p:cNvPr id="8" name="Text 5"/>
          <p:cNvSpPr txBox="1"/>
          <p:nvPr/>
        </p:nvSpPr>
        <p:spPr>
          <a:xfrm>
            <a:off x="10149840" y="1481328"/>
            <a:ext cx="1325880" cy="329184"/>
          </a:xfrm>
          <a:prstGeom prst="rect">
            <a:avLst/>
          </a:prstGeom>
          <a:noFill/>
          <a:ln/>
        </p:spPr>
        <p:txBody>
          <a:bodyPr wrap="square" lIns="0" tIns="0" rIns="0" bIns="0" rtlCol="0" anchor="ctr"/>
          <a:lstStyle/>
          <a:p>
            <a:pPr marL="0" indent="0" algn="ctr">
              <a:buNone/>
            </a:pPr>
            <a:r>
              <a:rPr lang="en-US" sz="1200" b="1" dirty="0">
                <a:solidFill>
                  <a:schemeClr val="bg1"/>
                </a:solidFill>
              </a:rPr>
              <a:t>Good fit</a:t>
            </a:r>
            <a:endParaRPr lang="en-US" sz="1200" dirty="0"/>
          </a:p>
        </p:txBody>
      </p:sp>
      <p:sp>
        <p:nvSpPr>
          <p:cNvPr id="9" name="Text 6"/>
          <p:cNvSpPr txBox="1"/>
          <p:nvPr/>
        </p:nvSpPr>
        <p:spPr>
          <a:xfrm>
            <a:off x="7772400" y="2103120"/>
            <a:ext cx="3703320" cy="548640"/>
          </a:xfrm>
          <a:prstGeom prst="rect">
            <a:avLst/>
          </a:prstGeom>
          <a:noFill/>
          <a:ln/>
        </p:spPr>
        <p:txBody>
          <a:bodyPr wrap="square" lIns="0" tIns="0" rIns="0" bIns="0" rtlCol="0" anchor="t"/>
          <a:lstStyle/>
          <a:p>
            <a:pPr marL="0" indent="0">
              <a:buNone/>
            </a:pPr>
            <a:r>
              <a:rPr lang="en-US" sz="1400" dirty="0">
                <a:solidFill>
                  <a:schemeClr val="tx1"/>
                </a:solidFill>
              </a:rPr>
              <a:t>train F1 0.952 ≈ validation 0.953</a:t>
            </a:r>
            <a:endParaRPr lang="en-US" sz="1400" dirty="0"/>
          </a:p>
        </p:txBody>
      </p:sp>
      <p:sp>
        <p:nvSpPr>
          <p:cNvPr id="10" name="diag2"/>
          <p:cNvSpPr/>
          <p:nvPr/>
        </p:nvSpPr>
        <p:spPr>
          <a:xfrm>
            <a:off x="7589520" y="2926080"/>
            <a:ext cx="4050792" cy="1417320"/>
          </a:xfrm>
          <a:prstGeom prst="roundRect">
            <a:avLst>
              <a:gd name="adj" fmla="val 7742"/>
            </a:avLst>
          </a:prstGeom>
          <a:solidFill>
            <a:schemeClr val="bg2"/>
          </a:solidFill>
          <a:ln/>
        </p:spPr>
        <p:txBody>
          <a:bodyPr/>
          <a:lstStyle/>
          <a:p>
            <a:endParaRPr lang="en-US"/>
          </a:p>
        </p:txBody>
      </p:sp>
      <p:sp>
        <p:nvSpPr>
          <p:cNvPr id="11" name="Text 8"/>
          <p:cNvSpPr txBox="1"/>
          <p:nvPr/>
        </p:nvSpPr>
        <p:spPr>
          <a:xfrm>
            <a:off x="7772400" y="3063240"/>
            <a:ext cx="2377440" cy="640080"/>
          </a:xfrm>
          <a:prstGeom prst="rect">
            <a:avLst/>
          </a:prstGeom>
          <a:noFill/>
          <a:ln/>
        </p:spPr>
        <p:txBody>
          <a:bodyPr wrap="square" lIns="0" tIns="0" rIns="0" bIns="0" rtlCol="0" anchor="t"/>
          <a:lstStyle/>
          <a:p>
            <a:pPr marL="0" indent="0">
              <a:buNone/>
            </a:pPr>
            <a:r>
              <a:rPr lang="en-US" sz="1600" b="1" dirty="0">
                <a:solidFill>
                  <a:schemeClr val="tx2"/>
                </a:solidFill>
              </a:rPr>
              <a:t>Strong L2, λ = 0.1</a:t>
            </a:r>
            <a:endParaRPr lang="en-US" sz="1600" dirty="0"/>
          </a:p>
        </p:txBody>
      </p:sp>
      <p:sp>
        <p:nvSpPr>
          <p:cNvPr id="12" name="Shape 9"/>
          <p:cNvSpPr/>
          <p:nvPr/>
        </p:nvSpPr>
        <p:spPr>
          <a:xfrm>
            <a:off x="10149840" y="3081528"/>
            <a:ext cx="1325880" cy="329184"/>
          </a:xfrm>
          <a:prstGeom prst="roundRect">
            <a:avLst>
              <a:gd name="adj" fmla="val 22222"/>
            </a:avLst>
          </a:prstGeom>
          <a:solidFill>
            <a:schemeClr val="accent3"/>
          </a:solidFill>
          <a:ln/>
        </p:spPr>
        <p:txBody>
          <a:bodyPr/>
          <a:lstStyle/>
          <a:p>
            <a:endParaRPr lang="en-US"/>
          </a:p>
        </p:txBody>
      </p:sp>
      <p:sp>
        <p:nvSpPr>
          <p:cNvPr id="13" name="Text 10"/>
          <p:cNvSpPr txBox="1"/>
          <p:nvPr/>
        </p:nvSpPr>
        <p:spPr>
          <a:xfrm>
            <a:off x="10149840" y="3081528"/>
            <a:ext cx="1325880" cy="329184"/>
          </a:xfrm>
          <a:prstGeom prst="rect">
            <a:avLst/>
          </a:prstGeom>
          <a:noFill/>
          <a:ln/>
        </p:spPr>
        <p:txBody>
          <a:bodyPr wrap="square" lIns="0" tIns="0" rIns="0" bIns="0" rtlCol="0" anchor="ctr"/>
          <a:lstStyle/>
          <a:p>
            <a:pPr marL="0" indent="0" algn="ctr">
              <a:buNone/>
            </a:pPr>
            <a:r>
              <a:rPr lang="en-US" sz="1200" b="1" dirty="0">
                <a:solidFill>
                  <a:schemeClr val="bg1"/>
                </a:solidFill>
              </a:rPr>
              <a:t>Under-fits</a:t>
            </a:r>
            <a:endParaRPr lang="en-US" sz="1200" dirty="0"/>
          </a:p>
        </p:txBody>
      </p:sp>
      <p:sp>
        <p:nvSpPr>
          <p:cNvPr id="14" name="Text 11"/>
          <p:cNvSpPr txBox="1"/>
          <p:nvPr/>
        </p:nvSpPr>
        <p:spPr>
          <a:xfrm>
            <a:off x="7772400" y="3703320"/>
            <a:ext cx="3703320" cy="548640"/>
          </a:xfrm>
          <a:prstGeom prst="rect">
            <a:avLst/>
          </a:prstGeom>
          <a:noFill/>
          <a:ln/>
        </p:spPr>
        <p:txBody>
          <a:bodyPr wrap="square" lIns="0" tIns="0" rIns="0" bIns="0" rtlCol="0" anchor="t"/>
          <a:lstStyle/>
          <a:p>
            <a:pPr marL="0" indent="0">
              <a:buNone/>
            </a:pPr>
            <a:r>
              <a:rPr lang="en-US" sz="1400" dirty="0">
                <a:solidFill>
                  <a:schemeClr val="tx1"/>
                </a:solidFill>
              </a:rPr>
              <a:t>train and validation log-loss both 0.40</a:t>
            </a:r>
            <a:endParaRPr lang="en-US" sz="1400" dirty="0"/>
          </a:p>
        </p:txBody>
      </p:sp>
      <p:sp>
        <p:nvSpPr>
          <p:cNvPr id="15" name="diag3"/>
          <p:cNvSpPr/>
          <p:nvPr/>
        </p:nvSpPr>
        <p:spPr>
          <a:xfrm>
            <a:off x="7589520" y="4526280"/>
            <a:ext cx="4050792" cy="1417320"/>
          </a:xfrm>
          <a:prstGeom prst="roundRect">
            <a:avLst>
              <a:gd name="adj" fmla="val 7742"/>
            </a:avLst>
          </a:prstGeom>
          <a:solidFill>
            <a:schemeClr val="bg2"/>
          </a:solidFill>
          <a:ln/>
        </p:spPr>
        <p:txBody>
          <a:bodyPr/>
          <a:lstStyle/>
          <a:p>
            <a:endParaRPr lang="en-US"/>
          </a:p>
        </p:txBody>
      </p:sp>
      <p:sp>
        <p:nvSpPr>
          <p:cNvPr id="16" name="Text 13"/>
          <p:cNvSpPr txBox="1"/>
          <p:nvPr/>
        </p:nvSpPr>
        <p:spPr>
          <a:xfrm>
            <a:off x="7772400" y="4663440"/>
            <a:ext cx="2377440" cy="640080"/>
          </a:xfrm>
          <a:prstGeom prst="rect">
            <a:avLst/>
          </a:prstGeom>
          <a:noFill/>
          <a:ln/>
        </p:spPr>
        <p:txBody>
          <a:bodyPr wrap="square" lIns="0" tIns="0" rIns="0" bIns="0" rtlCol="0" anchor="t"/>
          <a:lstStyle/>
          <a:p>
            <a:pPr marL="0" indent="0">
              <a:buNone/>
            </a:pPr>
            <a:r>
              <a:rPr lang="en-US" sz="1600" b="1" dirty="0">
                <a:solidFill>
                  <a:schemeClr val="tx2"/>
                </a:solidFill>
              </a:rPr>
              <a:t>Raw −1/0/1 codes</a:t>
            </a:r>
            <a:endParaRPr lang="en-US" sz="1600" dirty="0"/>
          </a:p>
        </p:txBody>
      </p:sp>
      <p:sp>
        <p:nvSpPr>
          <p:cNvPr id="17" name="Shape 14"/>
          <p:cNvSpPr/>
          <p:nvPr/>
        </p:nvSpPr>
        <p:spPr>
          <a:xfrm>
            <a:off x="10149840" y="4681728"/>
            <a:ext cx="1325880" cy="329184"/>
          </a:xfrm>
          <a:prstGeom prst="roundRect">
            <a:avLst>
              <a:gd name="adj" fmla="val 22222"/>
            </a:avLst>
          </a:prstGeom>
          <a:solidFill>
            <a:schemeClr val="accent3"/>
          </a:solidFill>
          <a:ln/>
        </p:spPr>
        <p:txBody>
          <a:bodyPr/>
          <a:lstStyle/>
          <a:p>
            <a:endParaRPr lang="en-US"/>
          </a:p>
        </p:txBody>
      </p:sp>
      <p:sp>
        <p:nvSpPr>
          <p:cNvPr id="18" name="Text 15"/>
          <p:cNvSpPr txBox="1"/>
          <p:nvPr/>
        </p:nvSpPr>
        <p:spPr>
          <a:xfrm>
            <a:off x="10149840" y="4681728"/>
            <a:ext cx="1325880" cy="329184"/>
          </a:xfrm>
          <a:prstGeom prst="rect">
            <a:avLst/>
          </a:prstGeom>
          <a:noFill/>
          <a:ln/>
        </p:spPr>
        <p:txBody>
          <a:bodyPr wrap="square" lIns="0" tIns="0" rIns="0" bIns="0" rtlCol="0" anchor="ctr"/>
          <a:lstStyle/>
          <a:p>
            <a:pPr marL="0" indent="0" algn="ctr">
              <a:buNone/>
            </a:pPr>
            <a:r>
              <a:rPr lang="en-US" sz="1200" b="1" dirty="0">
                <a:solidFill>
                  <a:schemeClr val="bg1"/>
                </a:solidFill>
              </a:rPr>
              <a:t>Under-fits</a:t>
            </a:r>
            <a:endParaRPr lang="en-US" sz="1200" dirty="0"/>
          </a:p>
        </p:txBody>
      </p:sp>
      <p:sp>
        <p:nvSpPr>
          <p:cNvPr id="19" name="Text 16"/>
          <p:cNvSpPr txBox="1"/>
          <p:nvPr/>
        </p:nvSpPr>
        <p:spPr>
          <a:xfrm>
            <a:off x="7772400" y="5303520"/>
            <a:ext cx="3703320" cy="548640"/>
          </a:xfrm>
          <a:prstGeom prst="rect">
            <a:avLst/>
          </a:prstGeom>
          <a:noFill/>
          <a:ln/>
        </p:spPr>
        <p:txBody>
          <a:bodyPr wrap="square" lIns="0" tIns="0" rIns="0" bIns="0" rtlCol="0" anchor="t"/>
          <a:lstStyle/>
          <a:p>
            <a:pPr marL="0" indent="0">
              <a:buNone/>
            </a:pPr>
            <a:r>
              <a:rPr lang="en-US" sz="1400" dirty="0">
                <a:solidFill>
                  <a:schemeClr val="tx1"/>
                </a:solidFill>
              </a:rPr>
              <a:t>validation log-loss 0.192 vs 0.139 one-hot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868680"/>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How we controlled model complexity</a:t>
            </a:r>
            <a:endParaRPr lang="en-US" sz="3000" dirty="0"/>
          </a:p>
        </p:txBody>
      </p:sp>
      <p:graphicFrame>
        <p:nvGraphicFramePr>
          <p:cNvPr id="3" name="Chart 0"/>
          <p:cNvGraphicFramePr/>
          <p:nvPr/>
        </p:nvGraphicFramePr>
        <p:xfrm>
          <a:off x="6400800" y="1280160"/>
          <a:ext cx="5239512"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548640" y="1417320"/>
            <a:ext cx="502920" cy="502920"/>
          </a:xfrm>
          <a:prstGeom prst="ellipse">
            <a:avLst/>
          </a:prstGeom>
          <a:solidFill>
            <a:schemeClr val="tx2"/>
          </a:solidFill>
          <a:ln/>
        </p:spPr>
        <p:txBody>
          <a:bodyPr/>
          <a:lstStyle/>
          <a:p>
            <a:endParaRPr lang="en-US"/>
          </a:p>
        </p:txBody>
      </p:sp>
      <p:sp>
        <p:nvSpPr>
          <p:cNvPr id="5" name="Text 2"/>
          <p:cNvSpPr txBox="1"/>
          <p:nvPr/>
        </p:nvSpPr>
        <p:spPr>
          <a:xfrm>
            <a:off x="548640" y="141732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3"/>
          <p:cNvSpPr txBox="1"/>
          <p:nvPr/>
        </p:nvSpPr>
        <p:spPr>
          <a:xfrm>
            <a:off x="1280160" y="1371600"/>
            <a:ext cx="4937760" cy="384048"/>
          </a:xfrm>
          <a:prstGeom prst="rect">
            <a:avLst/>
          </a:prstGeom>
          <a:noFill/>
          <a:ln/>
        </p:spPr>
        <p:txBody>
          <a:bodyPr wrap="square" lIns="0" tIns="0" rIns="0" bIns="0" rtlCol="0" anchor="t"/>
          <a:lstStyle/>
          <a:p>
            <a:pPr marL="0" indent="0">
              <a:buNone/>
            </a:pPr>
            <a:r>
              <a:rPr lang="en-US" sz="1800" b="1" dirty="0">
                <a:solidFill>
                  <a:schemeClr val="tx2"/>
                </a:solidFill>
              </a:rPr>
              <a:t>Regularisation</a:t>
            </a:r>
            <a:endParaRPr lang="en-US" sz="1800" dirty="0"/>
          </a:p>
        </p:txBody>
      </p:sp>
      <p:sp>
        <p:nvSpPr>
          <p:cNvPr id="7" name="Text 4"/>
          <p:cNvSpPr txBox="1"/>
          <p:nvPr/>
        </p:nvSpPr>
        <p:spPr>
          <a:xfrm>
            <a:off x="1280160" y="1783080"/>
            <a:ext cx="4937760" cy="640080"/>
          </a:xfrm>
          <a:prstGeom prst="rect">
            <a:avLst/>
          </a:prstGeom>
          <a:noFill/>
          <a:ln/>
        </p:spPr>
        <p:txBody>
          <a:bodyPr wrap="square" lIns="0" tIns="0" rIns="0" bIns="0" rtlCol="0" anchor="t"/>
          <a:lstStyle/>
          <a:p>
            <a:pPr marL="0" indent="0">
              <a:buNone/>
            </a:pPr>
            <a:r>
              <a:rPr lang="en-US" sz="1500" dirty="0">
                <a:solidFill>
                  <a:schemeClr val="tx1"/>
                </a:solidFill>
              </a:rPr>
              <a:t>L2 penalty on the weights, λ chosen on validation; ‖w‖ 13.2 → 1.4 as λ grows</a:t>
            </a:r>
            <a:endParaRPr lang="en-US" sz="1500" dirty="0"/>
          </a:p>
        </p:txBody>
      </p:sp>
      <p:sp>
        <p:nvSpPr>
          <p:cNvPr id="8" name="Shape 5"/>
          <p:cNvSpPr/>
          <p:nvPr/>
        </p:nvSpPr>
        <p:spPr>
          <a:xfrm>
            <a:off x="548640" y="2624328"/>
            <a:ext cx="502920" cy="502920"/>
          </a:xfrm>
          <a:prstGeom prst="ellipse">
            <a:avLst/>
          </a:prstGeom>
          <a:solidFill>
            <a:schemeClr val="tx2"/>
          </a:solidFill>
          <a:ln/>
        </p:spPr>
        <p:txBody>
          <a:bodyPr/>
          <a:lstStyle/>
          <a:p>
            <a:endParaRPr lang="en-US"/>
          </a:p>
        </p:txBody>
      </p:sp>
      <p:sp>
        <p:nvSpPr>
          <p:cNvPr id="9" name="Text 6"/>
          <p:cNvSpPr txBox="1"/>
          <p:nvPr/>
        </p:nvSpPr>
        <p:spPr>
          <a:xfrm>
            <a:off x="548640" y="2624328"/>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Text 7"/>
          <p:cNvSpPr txBox="1"/>
          <p:nvPr/>
        </p:nvSpPr>
        <p:spPr>
          <a:xfrm>
            <a:off x="1280160" y="2578608"/>
            <a:ext cx="4937760" cy="384048"/>
          </a:xfrm>
          <a:prstGeom prst="rect">
            <a:avLst/>
          </a:prstGeom>
          <a:noFill/>
          <a:ln/>
        </p:spPr>
        <p:txBody>
          <a:bodyPr wrap="square" lIns="0" tIns="0" rIns="0" bIns="0" rtlCol="0" anchor="t"/>
          <a:lstStyle/>
          <a:p>
            <a:pPr marL="0" indent="0">
              <a:buNone/>
            </a:pPr>
            <a:r>
              <a:rPr lang="en-US" sz="1800" b="1" dirty="0">
                <a:solidFill>
                  <a:schemeClr val="tx2"/>
                </a:solidFill>
              </a:rPr>
              <a:t>Right representation</a:t>
            </a:r>
            <a:endParaRPr lang="en-US" sz="1800" dirty="0"/>
          </a:p>
        </p:txBody>
      </p:sp>
      <p:sp>
        <p:nvSpPr>
          <p:cNvPr id="11" name="Text 8"/>
          <p:cNvSpPr txBox="1"/>
          <p:nvPr/>
        </p:nvSpPr>
        <p:spPr>
          <a:xfrm>
            <a:off x="1280160" y="2990088"/>
            <a:ext cx="4937760" cy="640080"/>
          </a:xfrm>
          <a:prstGeom prst="rect">
            <a:avLst/>
          </a:prstGeom>
          <a:noFill/>
          <a:ln/>
        </p:spPr>
        <p:txBody>
          <a:bodyPr wrap="square" lIns="0" tIns="0" rIns="0" bIns="0" rtlCol="0" anchor="t"/>
          <a:lstStyle/>
          <a:p>
            <a:pPr marL="0" indent="0">
              <a:buNone/>
            </a:pPr>
            <a:r>
              <a:rPr lang="en-US" sz="1500" dirty="0">
                <a:solidFill>
                  <a:schemeClr val="tx1"/>
                </a:solidFill>
              </a:rPr>
              <a:t>One-hot encoding fixes the non-monotone codes</a:t>
            </a:r>
            <a:endParaRPr lang="en-US" sz="1500" dirty="0"/>
          </a:p>
        </p:txBody>
      </p:sp>
      <p:sp>
        <p:nvSpPr>
          <p:cNvPr id="12" name="Shape 9"/>
          <p:cNvSpPr/>
          <p:nvPr/>
        </p:nvSpPr>
        <p:spPr>
          <a:xfrm>
            <a:off x="548640" y="3831336"/>
            <a:ext cx="502920" cy="502920"/>
          </a:xfrm>
          <a:prstGeom prst="ellipse">
            <a:avLst/>
          </a:prstGeom>
          <a:solidFill>
            <a:schemeClr val="tx2"/>
          </a:solidFill>
          <a:ln/>
        </p:spPr>
        <p:txBody>
          <a:bodyPr/>
          <a:lstStyle/>
          <a:p>
            <a:endParaRPr lang="en-US"/>
          </a:p>
        </p:txBody>
      </p:sp>
      <p:sp>
        <p:nvSpPr>
          <p:cNvPr id="13" name="Text 10"/>
          <p:cNvSpPr txBox="1"/>
          <p:nvPr/>
        </p:nvSpPr>
        <p:spPr>
          <a:xfrm>
            <a:off x="548640" y="3831336"/>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Text 11"/>
          <p:cNvSpPr txBox="1"/>
          <p:nvPr/>
        </p:nvSpPr>
        <p:spPr>
          <a:xfrm>
            <a:off x="1280160" y="3785616"/>
            <a:ext cx="4937760" cy="384048"/>
          </a:xfrm>
          <a:prstGeom prst="rect">
            <a:avLst/>
          </a:prstGeom>
          <a:noFill/>
          <a:ln/>
        </p:spPr>
        <p:txBody>
          <a:bodyPr wrap="square" lIns="0" tIns="0" rIns="0" bIns="0" rtlCol="0" anchor="t"/>
          <a:lstStyle/>
          <a:p>
            <a:pPr marL="0" indent="0">
              <a:buNone/>
            </a:pPr>
            <a:r>
              <a:rPr lang="en-US" sz="1800" b="1" dirty="0">
                <a:solidFill>
                  <a:schemeClr val="tx2"/>
                </a:solidFill>
              </a:rPr>
              <a:t>Stable step size</a:t>
            </a:r>
            <a:endParaRPr lang="en-US" sz="1800" dirty="0"/>
          </a:p>
        </p:txBody>
      </p:sp>
      <p:sp>
        <p:nvSpPr>
          <p:cNvPr id="15" name="Text 12"/>
          <p:cNvSpPr txBox="1"/>
          <p:nvPr/>
        </p:nvSpPr>
        <p:spPr>
          <a:xfrm>
            <a:off x="1280160" y="4197096"/>
            <a:ext cx="4937760" cy="640080"/>
          </a:xfrm>
          <a:prstGeom prst="rect">
            <a:avLst/>
          </a:prstGeom>
          <a:noFill/>
          <a:ln/>
        </p:spPr>
        <p:txBody>
          <a:bodyPr wrap="square" lIns="0" tIns="0" rIns="0" bIns="0" rtlCol="0" anchor="t"/>
          <a:lstStyle/>
          <a:p>
            <a:pPr marL="0" indent="0">
              <a:buNone/>
            </a:pPr>
            <a:r>
              <a:rPr lang="en-US" sz="1500" dirty="0">
                <a:solidFill>
                  <a:schemeClr val="tx1"/>
                </a:solidFill>
              </a:rPr>
              <a:t>Learning rate below 2/L; larger steps oscillate</a:t>
            </a:r>
            <a:endParaRPr lang="en-US" sz="1500" dirty="0"/>
          </a:p>
        </p:txBody>
      </p:sp>
      <p:sp>
        <p:nvSpPr>
          <p:cNvPr id="16" name="Shape 13"/>
          <p:cNvSpPr/>
          <p:nvPr/>
        </p:nvSpPr>
        <p:spPr>
          <a:xfrm>
            <a:off x="548640" y="5038344"/>
            <a:ext cx="502920" cy="502920"/>
          </a:xfrm>
          <a:prstGeom prst="ellipse">
            <a:avLst/>
          </a:prstGeom>
          <a:solidFill>
            <a:schemeClr val="tx2"/>
          </a:solidFill>
          <a:ln/>
        </p:spPr>
        <p:txBody>
          <a:bodyPr/>
          <a:lstStyle/>
          <a:p>
            <a:endParaRPr lang="en-US"/>
          </a:p>
        </p:txBody>
      </p:sp>
      <p:sp>
        <p:nvSpPr>
          <p:cNvPr id="17" name="Text 14"/>
          <p:cNvSpPr txBox="1"/>
          <p:nvPr/>
        </p:nvSpPr>
        <p:spPr>
          <a:xfrm>
            <a:off x="548640" y="5038344"/>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8" name="Text 15"/>
          <p:cNvSpPr txBox="1"/>
          <p:nvPr/>
        </p:nvSpPr>
        <p:spPr>
          <a:xfrm>
            <a:off x="1280160" y="4992624"/>
            <a:ext cx="4937760" cy="384048"/>
          </a:xfrm>
          <a:prstGeom prst="rect">
            <a:avLst/>
          </a:prstGeom>
          <a:noFill/>
          <a:ln/>
        </p:spPr>
        <p:txBody>
          <a:bodyPr wrap="square" lIns="0" tIns="0" rIns="0" bIns="0" rtlCol="0" anchor="t"/>
          <a:lstStyle/>
          <a:p>
            <a:pPr marL="0" indent="0">
              <a:buNone/>
            </a:pPr>
            <a:r>
              <a:rPr lang="en-US" sz="1800" b="1" dirty="0">
                <a:solidFill>
                  <a:schemeClr val="tx2"/>
                </a:solidFill>
              </a:rPr>
              <a:t>Feature selection</a:t>
            </a:r>
            <a:endParaRPr lang="en-US" sz="1800" dirty="0"/>
          </a:p>
        </p:txBody>
      </p:sp>
      <p:sp>
        <p:nvSpPr>
          <p:cNvPr id="19" name="Text 16"/>
          <p:cNvSpPr txBox="1"/>
          <p:nvPr/>
        </p:nvSpPr>
        <p:spPr>
          <a:xfrm>
            <a:off x="1280160" y="5404104"/>
            <a:ext cx="4937760" cy="640080"/>
          </a:xfrm>
          <a:prstGeom prst="rect">
            <a:avLst/>
          </a:prstGeom>
          <a:noFill/>
          <a:ln/>
        </p:spPr>
        <p:txBody>
          <a:bodyPr wrap="square" lIns="0" tIns="0" rIns="0" bIns="0" rtlCol="0" anchor="t"/>
          <a:lstStyle/>
          <a:p>
            <a:pPr marL="0" indent="0">
              <a:buNone/>
            </a:pPr>
            <a:r>
              <a:rPr lang="en-US" sz="1500" dirty="0">
                <a:solidFill>
                  <a:schemeClr val="tx1"/>
                </a:solidFill>
              </a:rPr>
              <a:t>Top-k by mutual information, chosen on training data</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868680"/>
          </a:xfrm>
          <a:prstGeom prst="rect">
            <a:avLst/>
          </a:prstGeom>
          <a:noFill/>
          <a:ln/>
        </p:spPr>
        <p:txBody>
          <a:bodyPr wrap="square" lIns="0" tIns="0" rIns="0" bIns="0"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Challenges we hit — and how tests caught them</a:t>
            </a:r>
            <a:endParaRPr lang="en-US" sz="3000" dirty="0"/>
          </a:p>
        </p:txBody>
      </p:sp>
      <p:sp>
        <p:nvSpPr>
          <p:cNvPr id="3" name="challenge1"/>
          <p:cNvSpPr/>
          <p:nvPr/>
        </p:nvSpPr>
        <p:spPr>
          <a:xfrm>
            <a:off x="548640" y="1325880"/>
            <a:ext cx="5440680" cy="1417320"/>
          </a:xfrm>
          <a:prstGeom prst="roundRect">
            <a:avLst>
              <a:gd name="adj" fmla="val 7742"/>
            </a:avLst>
          </a:prstGeom>
          <a:solidFill>
            <a:schemeClr val="bg2"/>
          </a:solidFill>
          <a:ln/>
        </p:spPr>
        <p:txBody>
          <a:bodyPr/>
          <a:lstStyle/>
          <a:p>
            <a:endParaRPr lang="en-US"/>
          </a:p>
        </p:txBody>
      </p:sp>
      <p:sp>
        <p:nvSpPr>
          <p:cNvPr id="4" name="Shape 2"/>
          <p:cNvSpPr/>
          <p:nvPr/>
        </p:nvSpPr>
        <p:spPr>
          <a:xfrm>
            <a:off x="777240" y="1554480"/>
            <a:ext cx="457200" cy="457200"/>
          </a:xfrm>
          <a:prstGeom prst="ellipse">
            <a:avLst/>
          </a:prstGeom>
          <a:solidFill>
            <a:schemeClr val="accent1"/>
          </a:solidFill>
          <a:ln/>
        </p:spPr>
        <p:txBody>
          <a:bodyPr/>
          <a:lstStyle/>
          <a:p>
            <a:endParaRPr lang="en-US"/>
          </a:p>
        </p:txBody>
      </p:sp>
      <p:sp>
        <p:nvSpPr>
          <p:cNvPr id="5" name="Text 3"/>
          <p:cNvSpPr txBox="1"/>
          <p:nvPr/>
        </p:nvSpPr>
        <p:spPr>
          <a:xfrm>
            <a:off x="777240" y="15544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1417320" y="1508760"/>
            <a:ext cx="4389120" cy="548640"/>
          </a:xfrm>
          <a:prstGeom prst="rect">
            <a:avLst/>
          </a:prstGeom>
          <a:noFill/>
          <a:ln/>
        </p:spPr>
        <p:txBody>
          <a:bodyPr wrap="square" lIns="0" tIns="0" rIns="0" bIns="0" rtlCol="0" anchor="t"/>
          <a:lstStyle/>
          <a:p>
            <a:pPr marL="0" indent="0">
              <a:buNone/>
            </a:pPr>
            <a:r>
              <a:rPr lang="en-US" sz="1600" b="1" dirty="0">
                <a:solidFill>
                  <a:schemeClr val="tx2"/>
                </a:solidFill>
              </a:rPr>
              <a:t>Half the data were duplicates</a:t>
            </a:r>
            <a:endParaRPr lang="en-US" sz="1600" dirty="0"/>
          </a:p>
        </p:txBody>
      </p:sp>
      <p:sp>
        <p:nvSpPr>
          <p:cNvPr id="7" name="Text 5"/>
          <p:cNvSpPr txBox="1"/>
          <p:nvPr/>
        </p:nvSpPr>
        <p:spPr>
          <a:xfrm>
            <a:off x="1417320" y="2075688"/>
            <a:ext cx="4389120" cy="548640"/>
          </a:xfrm>
          <a:prstGeom prst="rect">
            <a:avLst/>
          </a:prstGeom>
          <a:noFill/>
          <a:ln/>
        </p:spPr>
        <p:txBody>
          <a:bodyPr wrap="square" lIns="0" tIns="0" rIns="0" bIns="0" rtlCol="0" anchor="t"/>
          <a:lstStyle/>
          <a:p>
            <a:pPr marL="0" indent="0">
              <a:buNone/>
            </a:pPr>
            <a:r>
              <a:rPr lang="en-US" sz="1400" dirty="0">
                <a:solidFill>
                  <a:schemeClr val="tx1"/>
                </a:solidFill>
              </a:rPr>
              <a:t>Audited before modelling; cleaned before splitting</a:t>
            </a:r>
            <a:endParaRPr lang="en-US" sz="1400" dirty="0"/>
          </a:p>
        </p:txBody>
      </p:sp>
      <p:sp>
        <p:nvSpPr>
          <p:cNvPr id="8" name="challenge2"/>
          <p:cNvSpPr/>
          <p:nvPr/>
        </p:nvSpPr>
        <p:spPr>
          <a:xfrm>
            <a:off x="6172200" y="1325880"/>
            <a:ext cx="5440680" cy="1417320"/>
          </a:xfrm>
          <a:prstGeom prst="roundRect">
            <a:avLst>
              <a:gd name="adj" fmla="val 7742"/>
            </a:avLst>
          </a:prstGeom>
          <a:solidFill>
            <a:schemeClr val="bg2"/>
          </a:solidFill>
          <a:ln/>
        </p:spPr>
        <p:txBody>
          <a:bodyPr/>
          <a:lstStyle/>
          <a:p>
            <a:endParaRPr lang="en-US"/>
          </a:p>
        </p:txBody>
      </p:sp>
      <p:sp>
        <p:nvSpPr>
          <p:cNvPr id="9" name="Shape 7"/>
          <p:cNvSpPr/>
          <p:nvPr/>
        </p:nvSpPr>
        <p:spPr>
          <a:xfrm>
            <a:off x="6400800" y="1554480"/>
            <a:ext cx="457200" cy="457200"/>
          </a:xfrm>
          <a:prstGeom prst="ellipse">
            <a:avLst/>
          </a:prstGeom>
          <a:solidFill>
            <a:schemeClr val="accent1"/>
          </a:solidFill>
          <a:ln/>
        </p:spPr>
        <p:txBody>
          <a:bodyPr/>
          <a:lstStyle/>
          <a:p>
            <a:endParaRPr lang="en-US"/>
          </a:p>
        </p:txBody>
      </p:sp>
      <p:sp>
        <p:nvSpPr>
          <p:cNvPr id="10" name="Text 8"/>
          <p:cNvSpPr txBox="1"/>
          <p:nvPr/>
        </p:nvSpPr>
        <p:spPr>
          <a:xfrm>
            <a:off x="6400800" y="15544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9"/>
          <p:cNvSpPr txBox="1"/>
          <p:nvPr/>
        </p:nvSpPr>
        <p:spPr>
          <a:xfrm>
            <a:off x="7040880" y="1508760"/>
            <a:ext cx="4389120" cy="548640"/>
          </a:xfrm>
          <a:prstGeom prst="rect">
            <a:avLst/>
          </a:prstGeom>
          <a:noFill/>
          <a:ln/>
        </p:spPr>
        <p:txBody>
          <a:bodyPr wrap="square" lIns="0" tIns="0" rIns="0" bIns="0" rtlCol="0" anchor="t"/>
          <a:lstStyle/>
          <a:p>
            <a:pPr marL="0" indent="0">
              <a:buNone/>
            </a:pPr>
            <a:r>
              <a:rPr lang="en-US" sz="1600" b="1" dirty="0">
                <a:solidFill>
                  <a:schemeClr val="tx2"/>
                </a:solidFill>
              </a:rPr>
              <a:t>Python could not download the data (SSL error)</a:t>
            </a:r>
            <a:endParaRPr lang="en-US" sz="1600" dirty="0"/>
          </a:p>
        </p:txBody>
      </p:sp>
      <p:sp>
        <p:nvSpPr>
          <p:cNvPr id="12" name="Text 10"/>
          <p:cNvSpPr txBox="1"/>
          <p:nvPr/>
        </p:nvSpPr>
        <p:spPr>
          <a:xfrm>
            <a:off x="7040880" y="2075688"/>
            <a:ext cx="4389120" cy="548640"/>
          </a:xfrm>
          <a:prstGeom prst="rect">
            <a:avLst/>
          </a:prstGeom>
          <a:noFill/>
          <a:ln/>
        </p:spPr>
        <p:txBody>
          <a:bodyPr wrap="square" lIns="0" tIns="0" rIns="0" bIns="0" rtlCol="0" anchor="t"/>
          <a:lstStyle/>
          <a:p>
            <a:pPr marL="0" indent="0">
              <a:buNone/>
            </a:pPr>
            <a:r>
              <a:rPr lang="en-US" sz="1400" dirty="0">
                <a:solidFill>
                  <a:schemeClr val="tx1"/>
                </a:solidFill>
              </a:rPr>
              <a:t>Fetched the same file with curl, verified it cell by cell</a:t>
            </a:r>
            <a:endParaRPr lang="en-US" sz="1400" dirty="0"/>
          </a:p>
        </p:txBody>
      </p:sp>
      <p:sp>
        <p:nvSpPr>
          <p:cNvPr id="13" name="challenge3"/>
          <p:cNvSpPr/>
          <p:nvPr/>
        </p:nvSpPr>
        <p:spPr>
          <a:xfrm>
            <a:off x="548640" y="2926080"/>
            <a:ext cx="5440680" cy="1417320"/>
          </a:xfrm>
          <a:prstGeom prst="roundRect">
            <a:avLst>
              <a:gd name="adj" fmla="val 7742"/>
            </a:avLst>
          </a:prstGeom>
          <a:solidFill>
            <a:schemeClr val="bg2"/>
          </a:solidFill>
          <a:ln/>
        </p:spPr>
        <p:txBody>
          <a:bodyPr/>
          <a:lstStyle/>
          <a:p>
            <a:endParaRPr lang="en-US"/>
          </a:p>
        </p:txBody>
      </p:sp>
      <p:sp>
        <p:nvSpPr>
          <p:cNvPr id="14" name="Shape 12"/>
          <p:cNvSpPr/>
          <p:nvPr/>
        </p:nvSpPr>
        <p:spPr>
          <a:xfrm>
            <a:off x="777240" y="3154680"/>
            <a:ext cx="457200" cy="457200"/>
          </a:xfrm>
          <a:prstGeom prst="ellipse">
            <a:avLst/>
          </a:prstGeom>
          <a:solidFill>
            <a:schemeClr val="accent1"/>
          </a:solidFill>
          <a:ln/>
        </p:spPr>
        <p:txBody>
          <a:bodyPr/>
          <a:lstStyle/>
          <a:p>
            <a:endParaRPr lang="en-US"/>
          </a:p>
        </p:txBody>
      </p:sp>
      <p:sp>
        <p:nvSpPr>
          <p:cNvPr id="15" name="Text 13"/>
          <p:cNvSpPr txBox="1"/>
          <p:nvPr/>
        </p:nvSpPr>
        <p:spPr>
          <a:xfrm>
            <a:off x="777240" y="31546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4"/>
          <p:cNvSpPr txBox="1"/>
          <p:nvPr/>
        </p:nvSpPr>
        <p:spPr>
          <a:xfrm>
            <a:off x="1417320" y="3108960"/>
            <a:ext cx="4389120" cy="548640"/>
          </a:xfrm>
          <a:prstGeom prst="rect">
            <a:avLst/>
          </a:prstGeom>
          <a:noFill/>
          <a:ln/>
        </p:spPr>
        <p:txBody>
          <a:bodyPr wrap="square" lIns="0" tIns="0" rIns="0" bIns="0" rtlCol="0" anchor="t"/>
          <a:lstStyle/>
          <a:p>
            <a:pPr marL="0" indent="0">
              <a:buNone/>
            </a:pPr>
            <a:r>
              <a:rPr lang="en-US" sz="1600" b="1" dirty="0">
                <a:solidFill>
                  <a:schemeClr val="tx2"/>
                </a:solidFill>
              </a:rPr>
              <a:t>LR had not converged after 5,000 iterations</a:t>
            </a:r>
            <a:endParaRPr lang="en-US" sz="1600" dirty="0"/>
          </a:p>
        </p:txBody>
      </p:sp>
      <p:sp>
        <p:nvSpPr>
          <p:cNvPr id="17" name="Text 15"/>
          <p:cNvSpPr txBox="1"/>
          <p:nvPr/>
        </p:nvSpPr>
        <p:spPr>
          <a:xfrm>
            <a:off x="1417320" y="3675888"/>
            <a:ext cx="4389120" cy="548640"/>
          </a:xfrm>
          <a:prstGeom prst="rect">
            <a:avLst/>
          </a:prstGeom>
          <a:noFill/>
          <a:ln/>
        </p:spPr>
        <p:txBody>
          <a:bodyPr wrap="square" lIns="0" tIns="0" rIns="0" bIns="0" rtlCol="0" anchor="t"/>
          <a:lstStyle/>
          <a:p>
            <a:pPr marL="0" indent="0">
              <a:buNone/>
            </a:pPr>
            <a:r>
              <a:rPr lang="en-US" sz="1400" dirty="0">
                <a:solidFill>
                  <a:schemeClr val="tx1"/>
                </a:solidFill>
              </a:rPr>
              <a:t>Step size set from the smoothness constant L; up to 30,000 iterations</a:t>
            </a:r>
            <a:endParaRPr lang="en-US" sz="1400" dirty="0"/>
          </a:p>
        </p:txBody>
      </p:sp>
      <p:sp>
        <p:nvSpPr>
          <p:cNvPr id="18" name="challenge4"/>
          <p:cNvSpPr/>
          <p:nvPr/>
        </p:nvSpPr>
        <p:spPr>
          <a:xfrm>
            <a:off x="6172200" y="2926080"/>
            <a:ext cx="5440680" cy="1417320"/>
          </a:xfrm>
          <a:prstGeom prst="roundRect">
            <a:avLst>
              <a:gd name="adj" fmla="val 7742"/>
            </a:avLst>
          </a:prstGeom>
          <a:solidFill>
            <a:schemeClr val="bg2"/>
          </a:solidFill>
          <a:ln/>
        </p:spPr>
        <p:txBody>
          <a:bodyPr/>
          <a:lstStyle/>
          <a:p>
            <a:endParaRPr lang="en-US"/>
          </a:p>
        </p:txBody>
      </p:sp>
      <p:sp>
        <p:nvSpPr>
          <p:cNvPr id="19" name="Shape 17"/>
          <p:cNvSpPr/>
          <p:nvPr/>
        </p:nvSpPr>
        <p:spPr>
          <a:xfrm>
            <a:off x="6400800" y="3154680"/>
            <a:ext cx="457200" cy="457200"/>
          </a:xfrm>
          <a:prstGeom prst="ellipse">
            <a:avLst/>
          </a:prstGeom>
          <a:solidFill>
            <a:schemeClr val="accent1"/>
          </a:solidFill>
          <a:ln/>
        </p:spPr>
        <p:txBody>
          <a:bodyPr/>
          <a:lstStyle/>
          <a:p>
            <a:endParaRPr lang="en-US"/>
          </a:p>
        </p:txBody>
      </p:sp>
      <p:sp>
        <p:nvSpPr>
          <p:cNvPr id="20" name="Text 18"/>
          <p:cNvSpPr txBox="1"/>
          <p:nvPr/>
        </p:nvSpPr>
        <p:spPr>
          <a:xfrm>
            <a:off x="6400800" y="31546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1" name="Text 19"/>
          <p:cNvSpPr txBox="1"/>
          <p:nvPr/>
        </p:nvSpPr>
        <p:spPr>
          <a:xfrm>
            <a:off x="7040880" y="3108960"/>
            <a:ext cx="4389120" cy="548640"/>
          </a:xfrm>
          <a:prstGeom prst="rect">
            <a:avLst/>
          </a:prstGeom>
          <a:noFill/>
          <a:ln/>
        </p:spPr>
        <p:txBody>
          <a:bodyPr wrap="square" lIns="0" tIns="0" rIns="0" bIns="0" rtlCol="0" anchor="t"/>
          <a:lstStyle/>
          <a:p>
            <a:pPr marL="0" indent="0">
              <a:buNone/>
            </a:pPr>
            <a:r>
              <a:rPr lang="en-US" sz="1600" b="1" dirty="0">
                <a:solidFill>
                  <a:schemeClr val="tx2"/>
                </a:solidFill>
              </a:rPr>
              <a:t>A linear model mis-read the −1 / 0 / 1 codes</a:t>
            </a:r>
            <a:endParaRPr lang="en-US" sz="1600" dirty="0"/>
          </a:p>
        </p:txBody>
      </p:sp>
      <p:sp>
        <p:nvSpPr>
          <p:cNvPr id="22" name="Text 20"/>
          <p:cNvSpPr txBox="1"/>
          <p:nvPr/>
        </p:nvSpPr>
        <p:spPr>
          <a:xfrm>
            <a:off x="7040880" y="3675888"/>
            <a:ext cx="4389120" cy="548640"/>
          </a:xfrm>
          <a:prstGeom prst="rect">
            <a:avLst/>
          </a:prstGeom>
          <a:noFill/>
          <a:ln/>
        </p:spPr>
        <p:txBody>
          <a:bodyPr wrap="square" lIns="0" tIns="0" rIns="0" bIns="0" rtlCol="0" anchor="t"/>
          <a:lstStyle/>
          <a:p>
            <a:pPr marL="0" indent="0">
              <a:buNone/>
            </a:pPr>
            <a:r>
              <a:rPr lang="en-US" sz="1400" dirty="0">
                <a:solidFill>
                  <a:schemeClr val="tx1"/>
                </a:solidFill>
              </a:rPr>
              <a:t>Several codes are not ordered; one-hot encoding fixed it</a:t>
            </a:r>
            <a:endParaRPr lang="en-US" sz="1400" dirty="0"/>
          </a:p>
        </p:txBody>
      </p:sp>
      <p:sp>
        <p:nvSpPr>
          <p:cNvPr id="23" name="challenge5"/>
          <p:cNvSpPr/>
          <p:nvPr/>
        </p:nvSpPr>
        <p:spPr>
          <a:xfrm>
            <a:off x="548640" y="4526280"/>
            <a:ext cx="5440680" cy="1417320"/>
          </a:xfrm>
          <a:prstGeom prst="roundRect">
            <a:avLst>
              <a:gd name="adj" fmla="val 7742"/>
            </a:avLst>
          </a:prstGeom>
          <a:solidFill>
            <a:schemeClr val="bg2"/>
          </a:solidFill>
          <a:ln/>
        </p:spPr>
        <p:txBody>
          <a:bodyPr/>
          <a:lstStyle/>
          <a:p>
            <a:endParaRPr lang="en-US"/>
          </a:p>
        </p:txBody>
      </p:sp>
      <p:sp>
        <p:nvSpPr>
          <p:cNvPr id="24" name="Shape 22"/>
          <p:cNvSpPr/>
          <p:nvPr/>
        </p:nvSpPr>
        <p:spPr>
          <a:xfrm>
            <a:off x="777240" y="4754880"/>
            <a:ext cx="457200" cy="457200"/>
          </a:xfrm>
          <a:prstGeom prst="ellipse">
            <a:avLst/>
          </a:prstGeom>
          <a:solidFill>
            <a:schemeClr val="accent1"/>
          </a:solidFill>
          <a:ln/>
        </p:spPr>
        <p:txBody>
          <a:bodyPr/>
          <a:lstStyle/>
          <a:p>
            <a:endParaRPr lang="en-US"/>
          </a:p>
        </p:txBody>
      </p:sp>
      <p:sp>
        <p:nvSpPr>
          <p:cNvPr id="25" name="Text 23"/>
          <p:cNvSpPr txBox="1"/>
          <p:nvPr/>
        </p:nvSpPr>
        <p:spPr>
          <a:xfrm>
            <a:off x="777240" y="47548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6" name="Text 24"/>
          <p:cNvSpPr txBox="1"/>
          <p:nvPr/>
        </p:nvSpPr>
        <p:spPr>
          <a:xfrm>
            <a:off x="1417320" y="4709160"/>
            <a:ext cx="4389120" cy="548640"/>
          </a:xfrm>
          <a:prstGeom prst="rect">
            <a:avLst/>
          </a:prstGeom>
          <a:noFill/>
          <a:ln/>
        </p:spPr>
        <p:txBody>
          <a:bodyPr wrap="square" lIns="0" tIns="0" rIns="0" bIns="0" rtlCol="0" anchor="t"/>
          <a:lstStyle/>
          <a:p>
            <a:pPr marL="0" indent="0">
              <a:buNone/>
            </a:pPr>
            <a:r>
              <a:rPr lang="en-US" sz="1600" b="1" dirty="0">
                <a:solidFill>
                  <a:schemeClr val="tx2"/>
                </a:solidFill>
              </a:rPr>
              <a:t>Two counts in the EDA notes were wrong</a:t>
            </a:r>
            <a:endParaRPr lang="en-US" sz="1600" dirty="0"/>
          </a:p>
        </p:txBody>
      </p:sp>
      <p:sp>
        <p:nvSpPr>
          <p:cNvPr id="27" name="Text 25"/>
          <p:cNvSpPr txBox="1"/>
          <p:nvPr/>
        </p:nvSpPr>
        <p:spPr>
          <a:xfrm>
            <a:off x="1417320" y="5276088"/>
            <a:ext cx="4389120" cy="548640"/>
          </a:xfrm>
          <a:prstGeom prst="rect">
            <a:avLst/>
          </a:prstGeom>
          <a:noFill/>
          <a:ln/>
        </p:spPr>
        <p:txBody>
          <a:bodyPr wrap="square" lIns="0" tIns="0" rIns="0" bIns="0" rtlCol="0" anchor="t"/>
          <a:lstStyle/>
          <a:p>
            <a:pPr marL="0" indent="0">
              <a:buNone/>
            </a:pPr>
            <a:r>
              <a:rPr lang="en-US" sz="1400" dirty="0">
                <a:solidFill>
                  <a:schemeClr val="tx1"/>
                </a:solidFill>
              </a:rPr>
              <a:t>Cross-checked every number against the results file</a:t>
            </a:r>
            <a:endParaRPr lang="en-US" sz="1400" dirty="0"/>
          </a:p>
        </p:txBody>
      </p:sp>
      <p:sp>
        <p:nvSpPr>
          <p:cNvPr id="28" name="challenge6"/>
          <p:cNvSpPr/>
          <p:nvPr/>
        </p:nvSpPr>
        <p:spPr>
          <a:xfrm>
            <a:off x="6172200" y="4526280"/>
            <a:ext cx="5440680" cy="1417320"/>
          </a:xfrm>
          <a:prstGeom prst="roundRect">
            <a:avLst>
              <a:gd name="adj" fmla="val 7742"/>
            </a:avLst>
          </a:prstGeom>
          <a:solidFill>
            <a:schemeClr val="bg2"/>
          </a:solidFill>
          <a:ln/>
        </p:spPr>
        <p:txBody>
          <a:bodyPr/>
          <a:lstStyle/>
          <a:p>
            <a:endParaRPr lang="en-US"/>
          </a:p>
        </p:txBody>
      </p:sp>
      <p:sp>
        <p:nvSpPr>
          <p:cNvPr id="29" name="Shape 27"/>
          <p:cNvSpPr/>
          <p:nvPr/>
        </p:nvSpPr>
        <p:spPr>
          <a:xfrm>
            <a:off x="6400800" y="4754880"/>
            <a:ext cx="457200" cy="457200"/>
          </a:xfrm>
          <a:prstGeom prst="ellipse">
            <a:avLst/>
          </a:prstGeom>
          <a:solidFill>
            <a:schemeClr val="accent1"/>
          </a:solidFill>
          <a:ln/>
        </p:spPr>
        <p:txBody>
          <a:bodyPr/>
          <a:lstStyle/>
          <a:p>
            <a:endParaRPr lang="en-US"/>
          </a:p>
        </p:txBody>
      </p:sp>
      <p:sp>
        <p:nvSpPr>
          <p:cNvPr id="30" name="Text 28"/>
          <p:cNvSpPr txBox="1"/>
          <p:nvPr/>
        </p:nvSpPr>
        <p:spPr>
          <a:xfrm>
            <a:off x="6400800" y="47548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31" name="Text 29"/>
          <p:cNvSpPr txBox="1"/>
          <p:nvPr/>
        </p:nvSpPr>
        <p:spPr>
          <a:xfrm>
            <a:off x="7040880" y="4709160"/>
            <a:ext cx="4389120" cy="548640"/>
          </a:xfrm>
          <a:prstGeom prst="rect">
            <a:avLst/>
          </a:prstGeom>
          <a:noFill/>
          <a:ln/>
        </p:spPr>
        <p:txBody>
          <a:bodyPr wrap="square" lIns="0" tIns="0" rIns="0" bIns="0" rtlCol="0" anchor="t"/>
          <a:lstStyle/>
          <a:p>
            <a:pPr marL="0" indent="0">
              <a:buNone/>
            </a:pPr>
            <a:r>
              <a:rPr lang="en-US" sz="1600" b="1" dirty="0">
                <a:solidFill>
                  <a:schemeClr val="tx2"/>
                </a:solidFill>
              </a:rPr>
              <a:t>Split produced one extra test row</a:t>
            </a:r>
            <a:endParaRPr lang="en-US" sz="1600" dirty="0"/>
          </a:p>
        </p:txBody>
      </p:sp>
      <p:sp>
        <p:nvSpPr>
          <p:cNvPr id="32" name="Text 30"/>
          <p:cNvSpPr txBox="1"/>
          <p:nvPr/>
        </p:nvSpPr>
        <p:spPr>
          <a:xfrm>
            <a:off x="7040880" y="5276088"/>
            <a:ext cx="4389120" cy="548640"/>
          </a:xfrm>
          <a:prstGeom prst="rect">
            <a:avLst/>
          </a:prstGeom>
          <a:noFill/>
          <a:ln/>
        </p:spPr>
        <p:txBody>
          <a:bodyPr wrap="square" lIns="0" tIns="0" rIns="0" bIns="0" rtlCol="0" anchor="t"/>
          <a:lstStyle/>
          <a:p>
            <a:pPr marL="0" indent="0">
              <a:buNone/>
            </a:pPr>
            <a:r>
              <a:rPr lang="en-US" sz="1400" dirty="0">
                <a:solidFill>
                  <a:schemeClr val="tx1"/>
                </a:solidFill>
              </a:rPr>
              <a:t>Floating-point 1 − 0.70 − 0.15; the fraction is now rounded</a:t>
            </a:r>
            <a:endParaRPr lang="en-US" sz="1400" dirty="0"/>
          </a:p>
        </p:txBody>
      </p:sp>
      <p:sp>
        <p:nvSpPr>
          <p:cNvPr id="33"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868680"/>
          </a:xfrm>
          <a:prstGeom prst="rect">
            <a:avLst/>
          </a:prstGeom>
          <a:noFill/>
          <a:ln/>
        </p:spPr>
        <p:txBody>
          <a:bodyPr wrap="square" lIns="0" tIns="0" rIns="0" bIns="0" rtlCol="0" anchor="ctr"/>
          <a:lstStyle/>
          <a:p>
            <a:pPr marL="0" indent="0">
              <a:buNone/>
            </a:pPr>
            <a:r>
              <a:rPr lang="en-US" sz="3600" b="1" dirty="0">
                <a:solidFill>
                  <a:schemeClr val="bg1"/>
                </a:solidFill>
                <a:latin typeface="Cambria" pitchFamily="34" charset="0"/>
                <a:ea typeface="Cambria" pitchFamily="34" charset="-122"/>
                <a:cs typeface="Cambria" pitchFamily="34" charset="-120"/>
              </a:rPr>
              <a:t>Conclusion</a:t>
            </a:r>
            <a:endParaRPr lang="en-US" sz="3600" dirty="0"/>
          </a:p>
        </p:txBody>
      </p:sp>
      <p:sp>
        <p:nvSpPr>
          <p:cNvPr id="3" name="Text 1"/>
          <p:cNvSpPr txBox="1"/>
          <p:nvPr/>
        </p:nvSpPr>
        <p:spPr>
          <a:xfrm>
            <a:off x="548640" y="1554480"/>
            <a:ext cx="3474720" cy="822960"/>
          </a:xfrm>
          <a:prstGeom prst="rect">
            <a:avLst/>
          </a:prstGeom>
          <a:noFill/>
          <a:ln/>
        </p:spPr>
        <p:txBody>
          <a:bodyPr wrap="square" lIns="0" tIns="0" rIns="0" bIns="0" rtlCol="0" anchor="t"/>
          <a:lstStyle/>
          <a:p>
            <a:pPr marL="0" indent="0">
              <a:buNone/>
            </a:pPr>
            <a:r>
              <a:rPr lang="en-US" sz="4000" b="1" dirty="0">
                <a:solidFill>
                  <a:srgbClr val="E9A23B"/>
                </a:solidFill>
                <a:latin typeface="Cambria" pitchFamily="34" charset="0"/>
                <a:ea typeface="Cambria" pitchFamily="34" charset="-122"/>
                <a:cs typeface="Cambria" pitchFamily="34" charset="-120"/>
              </a:rPr>
              <a:t>0.937</a:t>
            </a:r>
            <a:endParaRPr lang="en-US" sz="4000" dirty="0"/>
          </a:p>
        </p:txBody>
      </p:sp>
      <p:sp>
        <p:nvSpPr>
          <p:cNvPr id="4" name="Text 2"/>
          <p:cNvSpPr txBox="1"/>
          <p:nvPr/>
        </p:nvSpPr>
        <p:spPr>
          <a:xfrm>
            <a:off x="548640" y="2377440"/>
            <a:ext cx="3291840" cy="731520"/>
          </a:xfrm>
          <a:prstGeom prst="rect">
            <a:avLst/>
          </a:prstGeom>
          <a:noFill/>
          <a:ln/>
        </p:spPr>
        <p:txBody>
          <a:bodyPr wrap="square" lIns="0" tIns="0" rIns="0" bIns="0" rtlCol="0" anchor="t"/>
          <a:lstStyle/>
          <a:p>
            <a:pPr marL="0" indent="0">
              <a:buNone/>
            </a:pPr>
            <a:r>
              <a:rPr lang="en-US" sz="1500" dirty="0">
                <a:solidFill>
                  <a:srgbClr val="CADCEB"/>
                </a:solidFill>
              </a:rPr>
              <a:t>test F1 of the from-scratch Logistic Regression</a:t>
            </a:r>
            <a:endParaRPr lang="en-US" sz="1500" dirty="0"/>
          </a:p>
        </p:txBody>
      </p:sp>
      <p:sp>
        <p:nvSpPr>
          <p:cNvPr id="5" name="Text 3"/>
          <p:cNvSpPr txBox="1"/>
          <p:nvPr/>
        </p:nvSpPr>
        <p:spPr>
          <a:xfrm>
            <a:off x="4297680" y="1554480"/>
            <a:ext cx="3474720" cy="822960"/>
          </a:xfrm>
          <a:prstGeom prst="rect">
            <a:avLst/>
          </a:prstGeom>
          <a:noFill/>
          <a:ln/>
        </p:spPr>
        <p:txBody>
          <a:bodyPr wrap="square" lIns="0" tIns="0" rIns="0" bIns="0" rtlCol="0" anchor="t"/>
          <a:lstStyle/>
          <a:p>
            <a:pPr marL="0" indent="0">
              <a:buNone/>
            </a:pPr>
            <a:r>
              <a:rPr lang="en-US" sz="4000" b="1" dirty="0">
                <a:solidFill>
                  <a:srgbClr val="E9A23B"/>
                </a:solidFill>
                <a:latin typeface="Cambria" pitchFamily="34" charset="0"/>
                <a:ea typeface="Cambria" pitchFamily="34" charset="-122"/>
                <a:cs typeface="Cambria" pitchFamily="34" charset="-120"/>
              </a:rPr>
              <a:t>+0.050</a:t>
            </a:r>
            <a:endParaRPr lang="en-US" sz="4000" dirty="0"/>
          </a:p>
        </p:txBody>
      </p:sp>
      <p:sp>
        <p:nvSpPr>
          <p:cNvPr id="6" name="Text 4"/>
          <p:cNvSpPr txBox="1"/>
          <p:nvPr/>
        </p:nvSpPr>
        <p:spPr>
          <a:xfrm>
            <a:off x="4297680" y="2377440"/>
            <a:ext cx="3291840" cy="731520"/>
          </a:xfrm>
          <a:prstGeom prst="rect">
            <a:avLst/>
          </a:prstGeom>
          <a:noFill/>
          <a:ln/>
        </p:spPr>
        <p:txBody>
          <a:bodyPr wrap="square" lIns="0" tIns="0" rIns="0" bIns="0" rtlCol="0" anchor="t"/>
          <a:lstStyle/>
          <a:p>
            <a:pPr marL="0" indent="0">
              <a:buNone/>
            </a:pPr>
            <a:r>
              <a:rPr lang="en-US" sz="1500" dirty="0">
                <a:solidFill>
                  <a:srgbClr val="CADCEB"/>
                </a:solidFill>
              </a:rPr>
              <a:t>clear F1 gain over the best single feature (paired bootstrap)</a:t>
            </a:r>
            <a:endParaRPr lang="en-US" sz="1500" dirty="0"/>
          </a:p>
        </p:txBody>
      </p:sp>
      <p:sp>
        <p:nvSpPr>
          <p:cNvPr id="7" name="Text 5"/>
          <p:cNvSpPr txBox="1"/>
          <p:nvPr/>
        </p:nvSpPr>
        <p:spPr>
          <a:xfrm>
            <a:off x="8046720" y="1554480"/>
            <a:ext cx="3474720" cy="822960"/>
          </a:xfrm>
          <a:prstGeom prst="rect">
            <a:avLst/>
          </a:prstGeom>
          <a:noFill/>
          <a:ln/>
        </p:spPr>
        <p:txBody>
          <a:bodyPr wrap="square" lIns="0" tIns="0" rIns="0" bIns="0" rtlCol="0" anchor="t"/>
          <a:lstStyle/>
          <a:p>
            <a:pPr marL="0" indent="0">
              <a:buNone/>
            </a:pPr>
            <a:r>
              <a:rPr lang="en-US" sz="4000" b="1" dirty="0">
                <a:solidFill>
                  <a:srgbClr val="E9A23B"/>
                </a:solidFill>
                <a:latin typeface="Cambria" pitchFamily="34" charset="0"/>
                <a:ea typeface="Cambria" pitchFamily="34" charset="-122"/>
                <a:cs typeface="Cambria" pitchFamily="34" charset="-120"/>
              </a:rPr>
              <a:t>2 signals</a:t>
            </a:r>
            <a:endParaRPr lang="en-US" sz="4000" dirty="0"/>
          </a:p>
        </p:txBody>
      </p:sp>
      <p:sp>
        <p:nvSpPr>
          <p:cNvPr id="8" name="Text 6"/>
          <p:cNvSpPr txBox="1"/>
          <p:nvPr/>
        </p:nvSpPr>
        <p:spPr>
          <a:xfrm>
            <a:off x="8046720" y="2377440"/>
            <a:ext cx="3291840" cy="731520"/>
          </a:xfrm>
          <a:prstGeom prst="rect">
            <a:avLst/>
          </a:prstGeom>
          <a:noFill/>
          <a:ln/>
        </p:spPr>
        <p:txBody>
          <a:bodyPr wrap="square" lIns="0" tIns="0" rIns="0" bIns="0" rtlCol="0" anchor="t"/>
          <a:lstStyle/>
          <a:p>
            <a:pPr marL="0" indent="0">
              <a:buNone/>
            </a:pPr>
            <a:r>
              <a:rPr lang="en-US" sz="1500" dirty="0">
                <a:solidFill>
                  <a:srgbClr val="CADCEB"/>
                </a:solidFill>
              </a:rPr>
              <a:t>HTTPS certificate and anchor links carry most of the information</a:t>
            </a:r>
            <a:endParaRPr lang="en-US" sz="1500" dirty="0"/>
          </a:p>
        </p:txBody>
      </p:sp>
      <p:sp>
        <p:nvSpPr>
          <p:cNvPr id="9" name="Text 7"/>
          <p:cNvSpPr txBox="1"/>
          <p:nvPr/>
        </p:nvSpPr>
        <p:spPr>
          <a:xfrm>
            <a:off x="548640" y="3840480"/>
            <a:ext cx="5303520" cy="365760"/>
          </a:xfrm>
          <a:prstGeom prst="rect">
            <a:avLst/>
          </a:prstGeom>
          <a:noFill/>
          <a:ln/>
        </p:spPr>
        <p:txBody>
          <a:bodyPr wrap="square" lIns="0" tIns="0" rIns="0" bIns="0" rtlCol="0" anchor="t"/>
          <a:lstStyle/>
          <a:p>
            <a:pPr marL="0" indent="0">
              <a:buNone/>
            </a:pPr>
            <a:r>
              <a:rPr lang="en-US" sz="1800" b="1" dirty="0">
                <a:solidFill>
                  <a:schemeClr val="bg1"/>
                </a:solidFill>
              </a:rPr>
              <a:t>Limitations</a:t>
            </a:r>
            <a:endParaRPr lang="en-US" sz="1800" dirty="0"/>
          </a:p>
        </p:txBody>
      </p:sp>
      <p:sp>
        <p:nvSpPr>
          <p:cNvPr id="10" name="Text 8"/>
          <p:cNvSpPr txBox="1"/>
          <p:nvPr/>
        </p:nvSpPr>
        <p:spPr>
          <a:xfrm>
            <a:off x="548640" y="4297680"/>
            <a:ext cx="5303520" cy="16459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E8EEF4"/>
                </a:solidFill>
              </a:rPr>
              <a:t>Data from about 2012; some sources (Alexa, PageRank) are retired</a:t>
            </a:r>
            <a:endParaRPr lang="en-US" sz="1500" dirty="0"/>
          </a:p>
          <a:p>
            <a:pPr marL="203200" indent="-203200">
              <a:spcAft>
                <a:spcPts val="800"/>
              </a:spcAft>
              <a:buSzPct val="100000"/>
              <a:buChar char="•"/>
            </a:pPr>
            <a:r>
              <a:rPr lang="en-US" sz="1500" dirty="0">
                <a:solidFill>
                  <a:srgbClr val="E8EEF4"/>
                </a:solidFill>
              </a:rPr>
              <a:t>Unique feature vectors, not real web traffic</a:t>
            </a:r>
            <a:endParaRPr lang="en-US" sz="1500" dirty="0"/>
          </a:p>
          <a:p>
            <a:pPr marL="203200" indent="-203200">
              <a:spcAft>
                <a:spcPts val="800"/>
              </a:spcAft>
              <a:buSzPct val="100000"/>
              <a:buChar char="•"/>
            </a:pPr>
            <a:r>
              <a:rPr lang="en-US" sz="1500" dirty="0">
                <a:solidFill>
                  <a:srgbClr val="E8EEF4"/>
                </a:solidFill>
              </a:rPr>
              <a:t>A linear model cannot learn feature interactions on its own</a:t>
            </a:r>
            <a:endParaRPr lang="en-US" sz="1500" dirty="0"/>
          </a:p>
        </p:txBody>
      </p:sp>
      <p:sp>
        <p:nvSpPr>
          <p:cNvPr id="11" name="Text 9"/>
          <p:cNvSpPr txBox="1"/>
          <p:nvPr/>
        </p:nvSpPr>
        <p:spPr>
          <a:xfrm>
            <a:off x="6309360" y="3840480"/>
            <a:ext cx="5303520" cy="365760"/>
          </a:xfrm>
          <a:prstGeom prst="rect">
            <a:avLst/>
          </a:prstGeom>
          <a:noFill/>
          <a:ln/>
        </p:spPr>
        <p:txBody>
          <a:bodyPr wrap="square" lIns="0" tIns="0" rIns="0" bIns="0" rtlCol="0" anchor="t"/>
          <a:lstStyle/>
          <a:p>
            <a:pPr marL="0" indent="0">
              <a:buNone/>
            </a:pPr>
            <a:r>
              <a:rPr lang="en-US" sz="1800" b="1" dirty="0">
                <a:solidFill>
                  <a:schemeClr val="bg1"/>
                </a:solidFill>
              </a:rPr>
              <a:t>Next steps</a:t>
            </a:r>
            <a:endParaRPr lang="en-US" sz="1800" dirty="0"/>
          </a:p>
        </p:txBody>
      </p:sp>
      <p:sp>
        <p:nvSpPr>
          <p:cNvPr id="12" name="Text 10"/>
          <p:cNvSpPr txBox="1"/>
          <p:nvPr/>
        </p:nvSpPr>
        <p:spPr>
          <a:xfrm>
            <a:off x="6309360" y="4297680"/>
            <a:ext cx="5303520" cy="16459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E8EEF4"/>
                </a:solidFill>
              </a:rPr>
              <a:t>A validated feature extractor for live URLs, run in a sandbox</a:t>
            </a:r>
            <a:endParaRPr lang="en-US" sz="1500" dirty="0"/>
          </a:p>
          <a:p>
            <a:pPr marL="203200" indent="-203200">
              <a:spcAft>
                <a:spcPts val="800"/>
              </a:spcAft>
              <a:buSzPct val="100000"/>
              <a:buChar char="•"/>
            </a:pPr>
            <a:r>
              <a:rPr lang="en-US" sz="1500" dirty="0">
                <a:solidFill>
                  <a:srgbClr val="E8EEF4"/>
                </a:solidFill>
              </a:rPr>
              <a:t>Newer datasets with time-based splits</a:t>
            </a:r>
            <a:endParaRPr lang="en-US" sz="1500" dirty="0"/>
          </a:p>
          <a:p>
            <a:pPr marL="203200" indent="-203200">
              <a:spcAft>
                <a:spcPts val="800"/>
              </a:spcAft>
              <a:buSzPct val="100000"/>
              <a:buChar char="•"/>
            </a:pPr>
            <a:r>
              <a:rPr lang="en-US" sz="1500" dirty="0">
                <a:solidFill>
                  <a:srgbClr val="E8EEF4"/>
                </a:solidFill>
              </a:rPr>
              <a:t>Interaction features or a non-linear model</a:t>
            </a:r>
            <a:endParaRPr lang="en-US" sz="1500" dirty="0"/>
          </a:p>
        </p:txBody>
      </p:sp>
    </p:spTree>
  </p:cSld>
  <p:clrMapOvr>
    <a:masterClrMapping/>
  </p:clrMapOvr>
</p:sld>
</file>

<file path=ppt/theme/theme1.xml><?xml version="1.0" encoding="utf-8"?>
<a:theme xmlns:a="http://schemas.openxmlformats.org/drawingml/2006/main" name="Phishing Alert">
  <a:themeElements>
    <a:clrScheme name="Phishing Alert">
      <a:dk1>
        <a:srgbClr val="1B1F2A"/>
      </a:dk1>
      <a:lt1>
        <a:srgbClr val="FFFFFF"/>
      </a:lt1>
      <a:dk2>
        <a:srgbClr val="0F2A44"/>
      </a:dk2>
      <a:lt2>
        <a:srgbClr val="EEF2F6"/>
      </a:lt2>
      <a:accent1>
        <a:srgbClr val="D1495B"/>
      </a:accent1>
      <a:accent2>
        <a:srgbClr val="2E7D5B"/>
      </a:accent2>
      <a:accent3>
        <a:srgbClr val="E9A23B"/>
      </a:accent3>
      <a:accent4>
        <a:srgbClr val="00798C"/>
      </a:accent4>
      <a:accent5>
        <a:srgbClr val="30638E"/>
      </a:accent5>
      <a:accent6>
        <a:srgbClr val="6C757D"/>
      </a:accent6>
      <a:hlink>
        <a:srgbClr val="00798C"/>
      </a:hlink>
      <a:folHlink>
        <a:srgbClr val="6C757D"/>
      </a:folHlink>
    </a:clrScheme>
    <a:fontScheme name="Phishing Ale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1797</Words>
  <Application>Microsoft Office PowerPoint</Application>
  <PresentationFormat>Widescreen</PresentationFormat>
  <Paragraphs>211</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Phishing Alert</vt:lpstr>
      <vt:lpstr>Phishing Website Detection</vt:lpstr>
      <vt:lpstr>The problem: spot phishing sites from 30 simple signals</vt:lpstr>
      <vt:lpstr>Dataset: 11,055 websites — almost half are copies</vt:lpstr>
      <vt:lpstr>Cleaning before splitting keeps the test honest</vt:lpstr>
      <vt:lpstr>Two warning signs carry most of the signal</vt:lpstr>
      <vt:lpstr>Feature codes are not always ordered</vt:lpstr>
      <vt:lpstr>Preprocessing and a leakage-safe pipeline</vt:lpstr>
      <vt:lpstr>Logistic Regression built from scratch in NumPy</vt:lpstr>
      <vt:lpstr>Logistic Regression clearly beats the baselines on the test set</vt:lpstr>
      <vt:lpstr>Ranking quality and the errors each model makes</vt:lpstr>
      <vt:lpstr>The selected model is well fitted; two settings under-fit</vt:lpstr>
      <vt:lpstr>How we controlled model complexity</vt:lpstr>
      <vt:lpstr>Challenges we hit — and how tests caught them</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Website Detection Using From-Scratch Machine Learning</dc:title>
  <dc:subject>PptxGenJS Presentation</dc:subject>
  <dc:creator>Vishakha</dc:creator>
  <cp:lastModifiedBy>Vishakha Sharma</cp:lastModifiedBy>
  <cp:revision>1</cp:revision>
  <dcterms:created xsi:type="dcterms:W3CDTF">2026-10-28T07:07:45Z</dcterms:created>
  <dcterms:modified xsi:type="dcterms:W3CDTF">2026-10-28T08:33:18Z</dcterms:modified>
</cp:coreProperties>
</file>